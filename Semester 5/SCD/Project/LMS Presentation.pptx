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Bold" charset="1" panose="000008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0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2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4064" y="6228323"/>
            <a:ext cx="8683635" cy="5320700"/>
          </a:xfrm>
          <a:custGeom>
            <a:avLst/>
            <a:gdLst/>
            <a:ahLst/>
            <a:cxnLst/>
            <a:rect r="r" b="b" t="t" l="l"/>
            <a:pathLst>
              <a:path h="5320700" w="8683635">
                <a:moveTo>
                  <a:pt x="0" y="0"/>
                </a:moveTo>
                <a:lnTo>
                  <a:pt x="8683635" y="0"/>
                </a:lnTo>
                <a:lnTo>
                  <a:pt x="8683635" y="5320700"/>
                </a:lnTo>
                <a:lnTo>
                  <a:pt x="0" y="532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64085" y="2211113"/>
            <a:ext cx="8506491" cy="5864774"/>
            <a:chOff x="0" y="0"/>
            <a:chExt cx="2240393" cy="1544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0393" cy="1544632"/>
            </a:xfrm>
            <a:custGeom>
              <a:avLst/>
              <a:gdLst/>
              <a:ahLst/>
              <a:cxnLst/>
              <a:rect r="r" b="b" t="t" l="l"/>
              <a:pathLst>
                <a:path h="1544632" w="2240393">
                  <a:moveTo>
                    <a:pt x="40955" y="0"/>
                  </a:moveTo>
                  <a:lnTo>
                    <a:pt x="2199437" y="0"/>
                  </a:lnTo>
                  <a:cubicBezTo>
                    <a:pt x="2222056" y="0"/>
                    <a:pt x="2240393" y="18336"/>
                    <a:pt x="2240393" y="40955"/>
                  </a:cubicBezTo>
                  <a:lnTo>
                    <a:pt x="2240393" y="1503676"/>
                  </a:lnTo>
                  <a:cubicBezTo>
                    <a:pt x="2240393" y="1514538"/>
                    <a:pt x="2236078" y="1524956"/>
                    <a:pt x="2228397" y="1532636"/>
                  </a:cubicBezTo>
                  <a:cubicBezTo>
                    <a:pt x="2220717" y="1540317"/>
                    <a:pt x="2210299" y="1544632"/>
                    <a:pt x="2199437" y="1544632"/>
                  </a:cubicBezTo>
                  <a:lnTo>
                    <a:pt x="40955" y="1544632"/>
                  </a:lnTo>
                  <a:cubicBezTo>
                    <a:pt x="18336" y="1544632"/>
                    <a:pt x="0" y="1526295"/>
                    <a:pt x="0" y="1503676"/>
                  </a:cubicBezTo>
                  <a:lnTo>
                    <a:pt x="0" y="40955"/>
                  </a:lnTo>
                  <a:cubicBezTo>
                    <a:pt x="0" y="18336"/>
                    <a:pt x="18336" y="0"/>
                    <a:pt x="40955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240393" cy="1630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91876" y="1827946"/>
            <a:ext cx="3591556" cy="3229732"/>
            <a:chOff x="0" y="0"/>
            <a:chExt cx="571087" cy="513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176248" b="-10479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91876" y="5229322"/>
            <a:ext cx="3591556" cy="3229732"/>
            <a:chOff x="0" y="0"/>
            <a:chExt cx="571087" cy="51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449" r="-17712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74306" y="1827946"/>
            <a:ext cx="3591556" cy="3229732"/>
            <a:chOff x="0" y="0"/>
            <a:chExt cx="571087" cy="513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-104612" t="0" r="-71196" b="-10447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74306" y="5229322"/>
            <a:ext cx="3591556" cy="3229732"/>
            <a:chOff x="0" y="0"/>
            <a:chExt cx="571087" cy="513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087" cy="513554"/>
            </a:xfrm>
            <a:custGeom>
              <a:avLst/>
              <a:gdLst/>
              <a:ahLst/>
              <a:cxnLst/>
              <a:rect r="r" b="b" t="t" l="l"/>
              <a:pathLst>
                <a:path h="513554" w="571087">
                  <a:moveTo>
                    <a:pt x="97002" y="0"/>
                  </a:moveTo>
                  <a:lnTo>
                    <a:pt x="474085" y="0"/>
                  </a:lnTo>
                  <a:cubicBezTo>
                    <a:pt x="499812" y="0"/>
                    <a:pt x="524485" y="10220"/>
                    <a:pt x="542676" y="28411"/>
                  </a:cubicBezTo>
                  <a:cubicBezTo>
                    <a:pt x="560867" y="46602"/>
                    <a:pt x="571087" y="71275"/>
                    <a:pt x="571087" y="97002"/>
                  </a:cubicBezTo>
                  <a:lnTo>
                    <a:pt x="571087" y="416552"/>
                  </a:lnTo>
                  <a:cubicBezTo>
                    <a:pt x="571087" y="442279"/>
                    <a:pt x="560867" y="466951"/>
                    <a:pt x="542676" y="485143"/>
                  </a:cubicBezTo>
                  <a:cubicBezTo>
                    <a:pt x="524485" y="503334"/>
                    <a:pt x="499812" y="513554"/>
                    <a:pt x="474085" y="513554"/>
                  </a:cubicBezTo>
                  <a:lnTo>
                    <a:pt x="97002" y="513554"/>
                  </a:lnTo>
                  <a:cubicBezTo>
                    <a:pt x="71275" y="513554"/>
                    <a:pt x="46602" y="503334"/>
                    <a:pt x="28411" y="485143"/>
                  </a:cubicBezTo>
                  <a:cubicBezTo>
                    <a:pt x="10220" y="466951"/>
                    <a:pt x="0" y="442279"/>
                    <a:pt x="0" y="416552"/>
                  </a:cubicBezTo>
                  <a:lnTo>
                    <a:pt x="0" y="97002"/>
                  </a:lnTo>
                  <a:cubicBezTo>
                    <a:pt x="0" y="71275"/>
                    <a:pt x="10220" y="46602"/>
                    <a:pt x="28411" y="28411"/>
                  </a:cubicBezTo>
                  <a:cubicBezTo>
                    <a:pt x="46602" y="10220"/>
                    <a:pt x="71275" y="0"/>
                    <a:pt x="97002" y="0"/>
                  </a:cubicBezTo>
                  <a:close/>
                </a:path>
              </a:pathLst>
            </a:custGeom>
            <a:blipFill>
              <a:blip r:embed="rId4"/>
              <a:stretch>
                <a:fillRect l="-104799" t="-105205" r="-71999" b="0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>
            <a:off x="10331143" y="6575862"/>
            <a:ext cx="1248155" cy="0"/>
          </a:xfrm>
          <a:prstGeom prst="line">
            <a:avLst/>
          </a:prstGeom>
          <a:ln cap="rnd" w="57150">
            <a:solidFill>
              <a:srgbClr val="E6B3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1028700"/>
            <a:ext cx="713864" cy="8229600"/>
            <a:chOff x="0" y="0"/>
            <a:chExt cx="188014" cy="21674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0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8014">
                  <a:moveTo>
                    <a:pt x="94007" y="0"/>
                  </a:moveTo>
                  <a:lnTo>
                    <a:pt x="94007" y="0"/>
                  </a:lnTo>
                  <a:cubicBezTo>
                    <a:pt x="118939" y="0"/>
                    <a:pt x="142850" y="9904"/>
                    <a:pt x="160480" y="27534"/>
                  </a:cubicBezTo>
                  <a:cubicBezTo>
                    <a:pt x="178109" y="45164"/>
                    <a:pt x="188014" y="69075"/>
                    <a:pt x="188014" y="94007"/>
                  </a:cubicBezTo>
                  <a:lnTo>
                    <a:pt x="188014" y="2073460"/>
                  </a:lnTo>
                  <a:cubicBezTo>
                    <a:pt x="188014" y="2125378"/>
                    <a:pt x="145925" y="2167467"/>
                    <a:pt x="94007" y="2167467"/>
                  </a:cubicBezTo>
                  <a:lnTo>
                    <a:pt x="94007" y="2167467"/>
                  </a:lnTo>
                  <a:cubicBezTo>
                    <a:pt x="42088" y="2167467"/>
                    <a:pt x="0" y="2125378"/>
                    <a:pt x="0" y="2073460"/>
                  </a:cubicBezTo>
                  <a:lnTo>
                    <a:pt x="0" y="94007"/>
                  </a:lnTo>
                  <a:cubicBezTo>
                    <a:pt x="0" y="42088"/>
                    <a:pt x="42088" y="0"/>
                    <a:pt x="94007" y="0"/>
                  </a:cubicBezTo>
                  <a:close/>
                </a:path>
              </a:pathLst>
            </a:custGeom>
            <a:solidFill>
              <a:srgbClr val="FFF7F2"/>
            </a:solidFill>
            <a:ln w="38100" cap="rnd">
              <a:solidFill>
                <a:srgbClr val="092729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88014" cy="225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199643" y="1806397"/>
            <a:ext cx="1541866" cy="4634024"/>
          </a:xfrm>
          <a:custGeom>
            <a:avLst/>
            <a:gdLst/>
            <a:ahLst/>
            <a:cxnLst/>
            <a:rect r="r" b="b" t="t" l="l"/>
            <a:pathLst>
              <a:path h="4634024" w="1541866">
                <a:moveTo>
                  <a:pt x="0" y="0"/>
                </a:moveTo>
                <a:lnTo>
                  <a:pt x="1541866" y="0"/>
                </a:lnTo>
                <a:lnTo>
                  <a:pt x="1541866" y="4634024"/>
                </a:lnTo>
                <a:lnTo>
                  <a:pt x="0" y="4634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76612" y="1958838"/>
            <a:ext cx="6312281" cy="494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Cloud-Bas</a:t>
            </a: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ed Library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75719" y="8140563"/>
            <a:ext cx="6312281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</a:t>
            </a: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rs: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Muhammad Saqlain Tahir (BSSE-23050)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Zunaira Abdul Aziz (BSSE-23058)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Faiqa Arshad (BSSE-23028)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-2684224" y="4668004"/>
            <a:ext cx="80730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A Scalable, Containerized Solution on AWS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6612" y="6777513"/>
            <a:ext cx="68471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C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onstruction and Development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291876" y="9777344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-5400000">
            <a:off x="8462565" y="7436066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0" y="0"/>
                </a:lnTo>
                <a:lnTo>
                  <a:pt x="1362870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5308854" y="2800171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0513" y="4489632"/>
            <a:ext cx="6618156" cy="6231695"/>
          </a:xfrm>
          <a:custGeom>
            <a:avLst/>
            <a:gdLst/>
            <a:ahLst/>
            <a:cxnLst/>
            <a:rect r="r" b="b" t="t" l="l"/>
            <a:pathLst>
              <a:path h="6231695" w="6618156">
                <a:moveTo>
                  <a:pt x="0" y="0"/>
                </a:moveTo>
                <a:lnTo>
                  <a:pt x="6618156" y="0"/>
                </a:lnTo>
                <a:lnTo>
                  <a:pt x="6618156" y="6231695"/>
                </a:lnTo>
                <a:lnTo>
                  <a:pt x="0" y="6231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448226" y="1476478"/>
            <a:ext cx="7041302" cy="7334044"/>
            <a:chOff x="0" y="0"/>
            <a:chExt cx="1069836" cy="1114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836" cy="1114315"/>
            </a:xfrm>
            <a:custGeom>
              <a:avLst/>
              <a:gdLst/>
              <a:ahLst/>
              <a:cxnLst/>
              <a:rect r="r" b="b" t="t" l="l"/>
              <a:pathLst>
                <a:path h="1114315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057141"/>
                  </a:lnTo>
                  <a:cubicBezTo>
                    <a:pt x="1069836" y="1072304"/>
                    <a:pt x="1063813" y="1086847"/>
                    <a:pt x="1053090" y="1097569"/>
                  </a:cubicBezTo>
                  <a:cubicBezTo>
                    <a:pt x="1042368" y="1108291"/>
                    <a:pt x="1027826" y="1114315"/>
                    <a:pt x="1012662" y="1114315"/>
                  </a:cubicBezTo>
                  <a:lnTo>
                    <a:pt x="57174" y="1114315"/>
                  </a:lnTo>
                  <a:cubicBezTo>
                    <a:pt x="42011" y="1114315"/>
                    <a:pt x="27468" y="1108291"/>
                    <a:pt x="16746" y="1097569"/>
                  </a:cubicBezTo>
                  <a:cubicBezTo>
                    <a:pt x="6024" y="1086847"/>
                    <a:pt x="0" y="1072304"/>
                    <a:pt x="0" y="1057141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863" r="0" b="-1386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487401" y="3720958"/>
            <a:ext cx="8456714" cy="4831846"/>
            <a:chOff x="0" y="0"/>
            <a:chExt cx="2227283" cy="1272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7283" cy="1272585"/>
            </a:xfrm>
            <a:custGeom>
              <a:avLst/>
              <a:gdLst/>
              <a:ahLst/>
              <a:cxnLst/>
              <a:rect r="r" b="b" t="t" l="l"/>
              <a:pathLst>
                <a:path h="1272585" w="2227283">
                  <a:moveTo>
                    <a:pt x="41196" y="0"/>
                  </a:moveTo>
                  <a:lnTo>
                    <a:pt x="2186086" y="0"/>
                  </a:lnTo>
                  <a:cubicBezTo>
                    <a:pt x="2208838" y="0"/>
                    <a:pt x="2227283" y="18444"/>
                    <a:pt x="2227283" y="41196"/>
                  </a:cubicBezTo>
                  <a:lnTo>
                    <a:pt x="2227283" y="1231388"/>
                  </a:lnTo>
                  <a:cubicBezTo>
                    <a:pt x="2227283" y="1242314"/>
                    <a:pt x="2222942" y="1252793"/>
                    <a:pt x="2215217" y="1260519"/>
                  </a:cubicBezTo>
                  <a:cubicBezTo>
                    <a:pt x="2207491" y="1268244"/>
                    <a:pt x="2197012" y="1272585"/>
                    <a:pt x="2186086" y="1272585"/>
                  </a:cubicBezTo>
                  <a:lnTo>
                    <a:pt x="41196" y="1272585"/>
                  </a:lnTo>
                  <a:cubicBezTo>
                    <a:pt x="18444" y="1272585"/>
                    <a:pt x="0" y="1254141"/>
                    <a:pt x="0" y="1231388"/>
                  </a:cubicBezTo>
                  <a:lnTo>
                    <a:pt x="0" y="41196"/>
                  </a:lnTo>
                  <a:cubicBezTo>
                    <a:pt x="0" y="30270"/>
                    <a:pt x="4340" y="19792"/>
                    <a:pt x="12066" y="12066"/>
                  </a:cubicBezTo>
                  <a:cubicBezTo>
                    <a:pt x="19792" y="4340"/>
                    <a:pt x="30270" y="0"/>
                    <a:pt x="41196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27283" cy="135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21810" y="7885287"/>
            <a:ext cx="644881" cy="644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989015" y="8052491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3" y="0"/>
                </a:lnTo>
                <a:lnTo>
                  <a:pt x="310473" y="310473"/>
                </a:lnTo>
                <a:lnTo>
                  <a:pt x="0" y="310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12601" y="4765198"/>
            <a:ext cx="7209760" cy="351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migrated the tradi</a:t>
            </a:r>
            <a:r>
              <a:rPr lang="en-US" sz="2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tional Library Management System from old local servers to the AWS Cloud. By using Amazon ECS and RDS, we built a secure, globally accessible solution. The new system now automatically handles high traffic spikes without crashing, eliminating the need for manual maintenance and hardware repairs.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96078" y="1849289"/>
            <a:ext cx="658037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545436" y="1028700"/>
            <a:ext cx="713864" cy="8229600"/>
            <a:chOff x="0" y="0"/>
            <a:chExt cx="951819" cy="109728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51819" cy="10972800"/>
              <a:chOff x="0" y="0"/>
              <a:chExt cx="188014" cy="216746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801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0"/>
                    </a:lnTo>
                    <a:cubicBezTo>
                      <a:pt x="188014" y="2125378"/>
                      <a:pt x="145925" y="2167467"/>
                      <a:pt x="94007" y="2167467"/>
                    </a:cubicBezTo>
                    <a:lnTo>
                      <a:pt x="94007" y="2167467"/>
                    </a:lnTo>
                    <a:cubicBezTo>
                      <a:pt x="42088" y="2167467"/>
                      <a:pt x="0" y="2125378"/>
                      <a:pt x="0" y="2073460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FFF7F2"/>
              </a:solidFill>
              <a:ln w="38100" cap="rnd">
                <a:solidFill>
                  <a:srgbClr val="092729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85725"/>
                <a:ext cx="188014" cy="225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7487401" y="3657201"/>
            <a:ext cx="1313700" cy="3948279"/>
          </a:xfrm>
          <a:custGeom>
            <a:avLst/>
            <a:gdLst/>
            <a:ahLst/>
            <a:cxnLst/>
            <a:rect r="r" b="b" t="t" l="l"/>
            <a:pathLst>
              <a:path h="3948279" w="1313700">
                <a:moveTo>
                  <a:pt x="0" y="0"/>
                </a:moveTo>
                <a:lnTo>
                  <a:pt x="1313700" y="0"/>
                </a:lnTo>
                <a:lnTo>
                  <a:pt x="1313700" y="3948279"/>
                </a:lnTo>
                <a:lnTo>
                  <a:pt x="0" y="39482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91876" y="9777344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-5400000">
            <a:off x="766790" y="1817648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1" y="0"/>
                </a:lnTo>
                <a:lnTo>
                  <a:pt x="1362871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5308854" y="2800171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62971" y="5579228"/>
            <a:ext cx="8683635" cy="5320700"/>
          </a:xfrm>
          <a:custGeom>
            <a:avLst/>
            <a:gdLst/>
            <a:ahLst/>
            <a:cxnLst/>
            <a:rect r="r" b="b" t="t" l="l"/>
            <a:pathLst>
              <a:path h="5320700" w="8683635">
                <a:moveTo>
                  <a:pt x="0" y="0"/>
                </a:moveTo>
                <a:lnTo>
                  <a:pt x="8683635" y="0"/>
                </a:lnTo>
                <a:lnTo>
                  <a:pt x="8683635" y="5320700"/>
                </a:lnTo>
                <a:lnTo>
                  <a:pt x="0" y="532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93393" y="3494054"/>
            <a:ext cx="4812778" cy="2416175"/>
            <a:chOff x="0" y="0"/>
            <a:chExt cx="1267563" cy="636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7563" cy="636359"/>
            </a:xfrm>
            <a:custGeom>
              <a:avLst/>
              <a:gdLst/>
              <a:ahLst/>
              <a:cxnLst/>
              <a:rect r="r" b="b" t="t" l="l"/>
              <a:pathLst>
                <a:path h="636359" w="1267563">
                  <a:moveTo>
                    <a:pt x="72388" y="0"/>
                  </a:moveTo>
                  <a:lnTo>
                    <a:pt x="1195175" y="0"/>
                  </a:lnTo>
                  <a:cubicBezTo>
                    <a:pt x="1214374" y="0"/>
                    <a:pt x="1232786" y="7627"/>
                    <a:pt x="1246361" y="21202"/>
                  </a:cubicBezTo>
                  <a:cubicBezTo>
                    <a:pt x="1259936" y="34777"/>
                    <a:pt x="1267563" y="53189"/>
                    <a:pt x="1267563" y="72388"/>
                  </a:cubicBezTo>
                  <a:lnTo>
                    <a:pt x="1267563" y="563971"/>
                  </a:lnTo>
                  <a:cubicBezTo>
                    <a:pt x="1267563" y="583169"/>
                    <a:pt x="1259936" y="601582"/>
                    <a:pt x="1246361" y="615157"/>
                  </a:cubicBezTo>
                  <a:cubicBezTo>
                    <a:pt x="1232786" y="628732"/>
                    <a:pt x="1214374" y="636359"/>
                    <a:pt x="1195175" y="636359"/>
                  </a:cubicBezTo>
                  <a:lnTo>
                    <a:pt x="72388" y="636359"/>
                  </a:lnTo>
                  <a:cubicBezTo>
                    <a:pt x="53189" y="636359"/>
                    <a:pt x="34777" y="628732"/>
                    <a:pt x="21202" y="615157"/>
                  </a:cubicBezTo>
                  <a:cubicBezTo>
                    <a:pt x="7627" y="601582"/>
                    <a:pt x="0" y="583169"/>
                    <a:pt x="0" y="563971"/>
                  </a:cubicBezTo>
                  <a:lnTo>
                    <a:pt x="0" y="72388"/>
                  </a:lnTo>
                  <a:cubicBezTo>
                    <a:pt x="0" y="53189"/>
                    <a:pt x="7627" y="34777"/>
                    <a:pt x="21202" y="21202"/>
                  </a:cubicBezTo>
                  <a:cubicBezTo>
                    <a:pt x="34777" y="7627"/>
                    <a:pt x="53189" y="0"/>
                    <a:pt x="72388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267563" cy="722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92162" y="192407"/>
            <a:ext cx="4812778" cy="2940034"/>
            <a:chOff x="0" y="0"/>
            <a:chExt cx="1267563" cy="774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7563" cy="774330"/>
            </a:xfrm>
            <a:custGeom>
              <a:avLst/>
              <a:gdLst/>
              <a:ahLst/>
              <a:cxnLst/>
              <a:rect r="r" b="b" t="t" l="l"/>
              <a:pathLst>
                <a:path h="774330" w="1267563">
                  <a:moveTo>
                    <a:pt x="72388" y="0"/>
                  </a:moveTo>
                  <a:lnTo>
                    <a:pt x="1195175" y="0"/>
                  </a:lnTo>
                  <a:cubicBezTo>
                    <a:pt x="1214374" y="0"/>
                    <a:pt x="1232786" y="7627"/>
                    <a:pt x="1246361" y="21202"/>
                  </a:cubicBezTo>
                  <a:cubicBezTo>
                    <a:pt x="1259936" y="34777"/>
                    <a:pt x="1267563" y="53189"/>
                    <a:pt x="1267563" y="72388"/>
                  </a:cubicBezTo>
                  <a:lnTo>
                    <a:pt x="1267563" y="701942"/>
                  </a:lnTo>
                  <a:cubicBezTo>
                    <a:pt x="1267563" y="721141"/>
                    <a:pt x="1259936" y="739553"/>
                    <a:pt x="1246361" y="753128"/>
                  </a:cubicBezTo>
                  <a:cubicBezTo>
                    <a:pt x="1232786" y="766703"/>
                    <a:pt x="1214374" y="774330"/>
                    <a:pt x="1195175" y="774330"/>
                  </a:cubicBezTo>
                  <a:lnTo>
                    <a:pt x="72388" y="774330"/>
                  </a:lnTo>
                  <a:cubicBezTo>
                    <a:pt x="53189" y="774330"/>
                    <a:pt x="34777" y="766703"/>
                    <a:pt x="21202" y="753128"/>
                  </a:cubicBezTo>
                  <a:cubicBezTo>
                    <a:pt x="7627" y="739553"/>
                    <a:pt x="0" y="721141"/>
                    <a:pt x="0" y="701942"/>
                  </a:cubicBezTo>
                  <a:lnTo>
                    <a:pt x="0" y="72388"/>
                  </a:lnTo>
                  <a:cubicBezTo>
                    <a:pt x="0" y="53189"/>
                    <a:pt x="7627" y="34777"/>
                    <a:pt x="21202" y="21202"/>
                  </a:cubicBezTo>
                  <a:cubicBezTo>
                    <a:pt x="34777" y="7627"/>
                    <a:pt x="53189" y="0"/>
                    <a:pt x="72388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267563" cy="86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0142" y="192407"/>
            <a:ext cx="4812778" cy="2940034"/>
            <a:chOff x="0" y="0"/>
            <a:chExt cx="1267563" cy="7743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7563" cy="774330"/>
            </a:xfrm>
            <a:custGeom>
              <a:avLst/>
              <a:gdLst/>
              <a:ahLst/>
              <a:cxnLst/>
              <a:rect r="r" b="b" t="t" l="l"/>
              <a:pathLst>
                <a:path h="774330" w="1267563">
                  <a:moveTo>
                    <a:pt x="72388" y="0"/>
                  </a:moveTo>
                  <a:lnTo>
                    <a:pt x="1195175" y="0"/>
                  </a:lnTo>
                  <a:cubicBezTo>
                    <a:pt x="1214374" y="0"/>
                    <a:pt x="1232786" y="7627"/>
                    <a:pt x="1246361" y="21202"/>
                  </a:cubicBezTo>
                  <a:cubicBezTo>
                    <a:pt x="1259936" y="34777"/>
                    <a:pt x="1267563" y="53189"/>
                    <a:pt x="1267563" y="72388"/>
                  </a:cubicBezTo>
                  <a:lnTo>
                    <a:pt x="1267563" y="701942"/>
                  </a:lnTo>
                  <a:cubicBezTo>
                    <a:pt x="1267563" y="721141"/>
                    <a:pt x="1259936" y="739553"/>
                    <a:pt x="1246361" y="753128"/>
                  </a:cubicBezTo>
                  <a:cubicBezTo>
                    <a:pt x="1232786" y="766703"/>
                    <a:pt x="1214374" y="774330"/>
                    <a:pt x="1195175" y="774330"/>
                  </a:cubicBezTo>
                  <a:lnTo>
                    <a:pt x="72388" y="774330"/>
                  </a:lnTo>
                  <a:cubicBezTo>
                    <a:pt x="53189" y="774330"/>
                    <a:pt x="34777" y="766703"/>
                    <a:pt x="21202" y="753128"/>
                  </a:cubicBezTo>
                  <a:cubicBezTo>
                    <a:pt x="7627" y="739553"/>
                    <a:pt x="0" y="721141"/>
                    <a:pt x="0" y="701942"/>
                  </a:cubicBezTo>
                  <a:lnTo>
                    <a:pt x="0" y="72388"/>
                  </a:lnTo>
                  <a:cubicBezTo>
                    <a:pt x="0" y="53189"/>
                    <a:pt x="7627" y="34777"/>
                    <a:pt x="21202" y="21202"/>
                  </a:cubicBezTo>
                  <a:cubicBezTo>
                    <a:pt x="34777" y="7627"/>
                    <a:pt x="53189" y="0"/>
                    <a:pt x="72388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67563" cy="86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16292" y="-405158"/>
            <a:ext cx="6139106" cy="11106862"/>
            <a:chOff x="0" y="0"/>
            <a:chExt cx="951108" cy="17207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108" cy="1720744"/>
            </a:xfrm>
            <a:custGeom>
              <a:avLst/>
              <a:gdLst/>
              <a:ahLst/>
              <a:cxnLst/>
              <a:rect r="r" b="b" t="t" l="l"/>
              <a:pathLst>
                <a:path h="1720744" w="951108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57690"/>
                  </a:lnTo>
                  <a:cubicBezTo>
                    <a:pt x="951108" y="1692513"/>
                    <a:pt x="922878" y="1720744"/>
                    <a:pt x="888054" y="1720744"/>
                  </a:cubicBezTo>
                  <a:lnTo>
                    <a:pt x="63054" y="1720744"/>
                  </a:lnTo>
                  <a:cubicBezTo>
                    <a:pt x="28230" y="1720744"/>
                    <a:pt x="0" y="1692513"/>
                    <a:pt x="0" y="1657690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4"/>
              <a:stretch>
                <a:fillRect l="-22367" t="0" r="-22367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82752" y="4291501"/>
            <a:ext cx="821282" cy="8212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695693" y="4504442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29501" y="1256980"/>
            <a:ext cx="821282" cy="82128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42442" y="146992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81521" y="1256980"/>
            <a:ext cx="821282" cy="8212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094462" y="146992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47006" y="6353381"/>
            <a:ext cx="4827945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30221" y="3519976"/>
            <a:ext cx="3739123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Vulne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rability: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Single-point-of-failure storage.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automated backups and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disaster recovery.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65024" y="399155"/>
            <a:ext cx="3552374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Accessibility: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Legacy servers restricted acc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 to the campus network only.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remote access for students working from home.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012323" y="125732"/>
            <a:ext cx="3552374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Scalab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ility Crisis: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frequently crashed during high-traffic periods (e.g., Mid-term/Final exa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weeks).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could not handle concurrent user requests.</a:t>
            </a:r>
          </a:p>
          <a:p>
            <a:pPr algn="l">
              <a:lnSpc>
                <a:spcPts val="2800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6545436" y="1028700"/>
            <a:ext cx="713864" cy="8229600"/>
            <a:chOff x="0" y="0"/>
            <a:chExt cx="951819" cy="109728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51819" cy="10972800"/>
              <a:chOff x="0" y="0"/>
              <a:chExt cx="188014" cy="216746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8801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0"/>
                    </a:lnTo>
                    <a:cubicBezTo>
                      <a:pt x="188014" y="2125378"/>
                      <a:pt x="145925" y="2167467"/>
                      <a:pt x="94007" y="2167467"/>
                    </a:cubicBezTo>
                    <a:lnTo>
                      <a:pt x="94007" y="2167467"/>
                    </a:lnTo>
                    <a:cubicBezTo>
                      <a:pt x="42088" y="2167467"/>
                      <a:pt x="0" y="2125378"/>
                      <a:pt x="0" y="2073460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FFF7F2"/>
              </a:solidFill>
              <a:ln w="38100" cap="rnd">
                <a:solidFill>
                  <a:srgbClr val="092729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85725"/>
                <a:ext cx="188014" cy="225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947710" y="5098028"/>
            <a:ext cx="1111962" cy="3341963"/>
          </a:xfrm>
          <a:custGeom>
            <a:avLst/>
            <a:gdLst/>
            <a:ahLst/>
            <a:cxnLst/>
            <a:rect r="r" b="b" t="t" l="l"/>
            <a:pathLst>
              <a:path h="3341963" w="1111962">
                <a:moveTo>
                  <a:pt x="0" y="0"/>
                </a:moveTo>
                <a:lnTo>
                  <a:pt x="1111962" y="0"/>
                </a:lnTo>
                <a:lnTo>
                  <a:pt x="1111962" y="3341963"/>
                </a:lnTo>
                <a:lnTo>
                  <a:pt x="0" y="33419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291876" y="9777344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-5400000">
            <a:off x="11882379" y="7145236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1" y="0"/>
                </a:lnTo>
                <a:lnTo>
                  <a:pt x="1362871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0329655" y="465830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2247006" y="8163378"/>
            <a:ext cx="3739123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Migr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ate to the Cloud?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0513" y="4808979"/>
            <a:ext cx="6618156" cy="6231695"/>
          </a:xfrm>
          <a:custGeom>
            <a:avLst/>
            <a:gdLst/>
            <a:ahLst/>
            <a:cxnLst/>
            <a:rect r="r" b="b" t="t" l="l"/>
            <a:pathLst>
              <a:path h="6231695" w="6618156">
                <a:moveTo>
                  <a:pt x="0" y="0"/>
                </a:moveTo>
                <a:lnTo>
                  <a:pt x="6618156" y="0"/>
                </a:lnTo>
                <a:lnTo>
                  <a:pt x="6618156" y="6231695"/>
                </a:lnTo>
                <a:lnTo>
                  <a:pt x="0" y="6231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948291" y="2121033"/>
            <a:ext cx="10016506" cy="6080081"/>
            <a:chOff x="0" y="0"/>
            <a:chExt cx="2638092" cy="1601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38092" cy="1601338"/>
            </a:xfrm>
            <a:custGeom>
              <a:avLst/>
              <a:gdLst/>
              <a:ahLst/>
              <a:cxnLst/>
              <a:rect r="r" b="b" t="t" l="l"/>
              <a:pathLst>
                <a:path h="1601338" w="2638092">
                  <a:moveTo>
                    <a:pt x="34781" y="0"/>
                  </a:moveTo>
                  <a:lnTo>
                    <a:pt x="2603311" y="0"/>
                  </a:lnTo>
                  <a:cubicBezTo>
                    <a:pt x="2612535" y="0"/>
                    <a:pt x="2621382" y="3664"/>
                    <a:pt x="2627905" y="10187"/>
                  </a:cubicBezTo>
                  <a:cubicBezTo>
                    <a:pt x="2634428" y="16710"/>
                    <a:pt x="2638092" y="25557"/>
                    <a:pt x="2638092" y="34781"/>
                  </a:cubicBezTo>
                  <a:lnTo>
                    <a:pt x="2638092" y="1566557"/>
                  </a:lnTo>
                  <a:cubicBezTo>
                    <a:pt x="2638092" y="1575782"/>
                    <a:pt x="2634428" y="1584628"/>
                    <a:pt x="2627905" y="1591151"/>
                  </a:cubicBezTo>
                  <a:cubicBezTo>
                    <a:pt x="2621382" y="1597674"/>
                    <a:pt x="2612535" y="1601338"/>
                    <a:pt x="2603311" y="1601338"/>
                  </a:cubicBezTo>
                  <a:lnTo>
                    <a:pt x="34781" y="1601338"/>
                  </a:lnTo>
                  <a:cubicBezTo>
                    <a:pt x="25557" y="1601338"/>
                    <a:pt x="16710" y="1597674"/>
                    <a:pt x="10187" y="1591151"/>
                  </a:cubicBezTo>
                  <a:cubicBezTo>
                    <a:pt x="3664" y="1584628"/>
                    <a:pt x="0" y="1575782"/>
                    <a:pt x="0" y="1566557"/>
                  </a:cubicBezTo>
                  <a:lnTo>
                    <a:pt x="0" y="34781"/>
                  </a:lnTo>
                  <a:cubicBezTo>
                    <a:pt x="0" y="25557"/>
                    <a:pt x="3664" y="16710"/>
                    <a:pt x="10187" y="10187"/>
                  </a:cubicBezTo>
                  <a:cubicBezTo>
                    <a:pt x="16710" y="3664"/>
                    <a:pt x="25557" y="0"/>
                    <a:pt x="34781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638092" cy="1687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2650" y="4328689"/>
            <a:ext cx="8334446" cy="3315305"/>
            <a:chOff x="0" y="0"/>
            <a:chExt cx="1038683" cy="413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3797" r="0" b="-3379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19416" y="2689864"/>
            <a:ext cx="821282" cy="8212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732357" y="2902806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519416" y="3987697"/>
            <a:ext cx="821282" cy="8212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32357" y="4200638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519416" y="5289268"/>
            <a:ext cx="821282" cy="8212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732357" y="5502209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519416" y="6590839"/>
            <a:ext cx="821282" cy="8212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732357" y="6803780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19700" y="2528706"/>
            <a:ext cx="665864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Solution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59436" y="2354381"/>
            <a:ext cx="50860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alability: Automate traffic handling using Amazon ECS to support high user loads without crashing.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59436" y="3921022"/>
            <a:ext cx="544293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Integrity: Migrate vulnerable local data to Amazon RDS (PostgreSQL) for automated backups and fault tolerance.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59436" y="5222593"/>
            <a:ext cx="50860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ecurity: Implement strict network isolation using a custom Virtual Private Cloud (VPC).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59436" y="6524164"/>
            <a:ext cx="5086000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rnization: Containerize the application using Docker to ensure consistent deployment across any environment.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545436" y="1028700"/>
            <a:ext cx="713864" cy="8229600"/>
            <a:chOff x="0" y="0"/>
            <a:chExt cx="951819" cy="109728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51819" cy="10972800"/>
              <a:chOff x="0" y="0"/>
              <a:chExt cx="188014" cy="216746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801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0"/>
                    </a:lnTo>
                    <a:cubicBezTo>
                      <a:pt x="188014" y="2125378"/>
                      <a:pt x="145925" y="2167467"/>
                      <a:pt x="94007" y="2167467"/>
                    </a:cubicBezTo>
                    <a:lnTo>
                      <a:pt x="94007" y="2167467"/>
                    </a:lnTo>
                    <a:cubicBezTo>
                      <a:pt x="42088" y="2167467"/>
                      <a:pt x="0" y="2125378"/>
                      <a:pt x="0" y="2073460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FFF7F2"/>
              </a:solidFill>
              <a:ln w="38100" cap="rnd">
                <a:solidFill>
                  <a:srgbClr val="092729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85725"/>
                <a:ext cx="188014" cy="225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7410738" y="969447"/>
            <a:ext cx="1075105" cy="3231191"/>
          </a:xfrm>
          <a:custGeom>
            <a:avLst/>
            <a:gdLst/>
            <a:ahLst/>
            <a:cxnLst/>
            <a:rect r="r" b="b" t="t" l="l"/>
            <a:pathLst>
              <a:path h="3231191" w="1075105">
                <a:moveTo>
                  <a:pt x="0" y="0"/>
                </a:moveTo>
                <a:lnTo>
                  <a:pt x="1075106" y="0"/>
                </a:lnTo>
                <a:lnTo>
                  <a:pt x="1075106" y="3231191"/>
                </a:lnTo>
                <a:lnTo>
                  <a:pt x="0" y="32311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528424" y="9912333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4"/>
                </a:lnTo>
                <a:lnTo>
                  <a:pt x="0" y="7493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-5400000">
            <a:off x="2252477" y="6748508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1" y="0"/>
                </a:lnTo>
                <a:lnTo>
                  <a:pt x="1362871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3076864" y="1028700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84193" y="5579228"/>
            <a:ext cx="8683635" cy="5320700"/>
          </a:xfrm>
          <a:custGeom>
            <a:avLst/>
            <a:gdLst/>
            <a:ahLst/>
            <a:cxnLst/>
            <a:rect r="r" b="b" t="t" l="l"/>
            <a:pathLst>
              <a:path h="5320700" w="8683635">
                <a:moveTo>
                  <a:pt x="0" y="0"/>
                </a:moveTo>
                <a:lnTo>
                  <a:pt x="8683635" y="0"/>
                </a:lnTo>
                <a:lnTo>
                  <a:pt x="8683635" y="5320700"/>
                </a:lnTo>
                <a:lnTo>
                  <a:pt x="0" y="532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18331" y="2187723"/>
            <a:ext cx="644881" cy="64488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85535" y="2354927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4" y="0"/>
                </a:lnTo>
                <a:lnTo>
                  <a:pt x="310474" y="310473"/>
                </a:lnTo>
                <a:lnTo>
                  <a:pt x="0" y="31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45436" y="1028700"/>
            <a:ext cx="713864" cy="8229600"/>
            <a:chOff x="0" y="0"/>
            <a:chExt cx="951819" cy="10972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51819" cy="10972800"/>
              <a:chOff x="0" y="0"/>
              <a:chExt cx="188014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801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0"/>
                    </a:lnTo>
                    <a:cubicBezTo>
                      <a:pt x="188014" y="2125378"/>
                      <a:pt x="145925" y="2167467"/>
                      <a:pt x="94007" y="2167467"/>
                    </a:cubicBezTo>
                    <a:lnTo>
                      <a:pt x="94007" y="2167467"/>
                    </a:lnTo>
                    <a:cubicBezTo>
                      <a:pt x="42088" y="2167467"/>
                      <a:pt x="0" y="2125378"/>
                      <a:pt x="0" y="2073460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FFF7F2"/>
              </a:solidFill>
              <a:ln w="38100" cap="rnd">
                <a:solidFill>
                  <a:srgbClr val="092729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85725"/>
                <a:ext cx="188014" cy="225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845645" y="2089634"/>
            <a:ext cx="1067854" cy="3209397"/>
          </a:xfrm>
          <a:custGeom>
            <a:avLst/>
            <a:gdLst/>
            <a:ahLst/>
            <a:cxnLst/>
            <a:rect r="r" b="b" t="t" l="l"/>
            <a:pathLst>
              <a:path h="3209397" w="1067854">
                <a:moveTo>
                  <a:pt x="0" y="0"/>
                </a:moveTo>
                <a:lnTo>
                  <a:pt x="1067854" y="0"/>
                </a:lnTo>
                <a:lnTo>
                  <a:pt x="1067854" y="3209396"/>
                </a:lnTo>
                <a:lnTo>
                  <a:pt x="0" y="3209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4640525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-5400000">
            <a:off x="2235370" y="7658466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0" y="0"/>
                </a:lnTo>
                <a:lnTo>
                  <a:pt x="1362870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4906033" y="6666506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0" y="10205"/>
            <a:ext cx="12994128" cy="10276795"/>
          </a:xfrm>
          <a:custGeom>
            <a:avLst/>
            <a:gdLst/>
            <a:ahLst/>
            <a:cxnLst/>
            <a:rect r="r" b="b" t="t" l="l"/>
            <a:pathLst>
              <a:path h="10276795" w="12994128">
                <a:moveTo>
                  <a:pt x="0" y="0"/>
                </a:moveTo>
                <a:lnTo>
                  <a:pt x="12994128" y="0"/>
                </a:lnTo>
                <a:lnTo>
                  <a:pt x="12994128" y="10276795"/>
                </a:lnTo>
                <a:lnTo>
                  <a:pt x="0" y="102767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315" t="-859" r="0" b="-85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994128" y="385486"/>
            <a:ext cx="5673700" cy="268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AWS Architect</a:t>
            </a:r>
            <a:r>
              <a:rPr lang="en-US" sz="65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ure Design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9844" y="3026605"/>
            <a:ext cx="6618156" cy="6231695"/>
          </a:xfrm>
          <a:custGeom>
            <a:avLst/>
            <a:gdLst/>
            <a:ahLst/>
            <a:cxnLst/>
            <a:rect r="r" b="b" t="t" l="l"/>
            <a:pathLst>
              <a:path h="6231695" w="6618156">
                <a:moveTo>
                  <a:pt x="0" y="0"/>
                </a:moveTo>
                <a:lnTo>
                  <a:pt x="6618156" y="0"/>
                </a:lnTo>
                <a:lnTo>
                  <a:pt x="6618156" y="6231695"/>
                </a:lnTo>
                <a:lnTo>
                  <a:pt x="0" y="6231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15985" y="5167843"/>
            <a:ext cx="20718884" cy="3943879"/>
            <a:chOff x="0" y="0"/>
            <a:chExt cx="5456825" cy="1038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6825" cy="1038717"/>
            </a:xfrm>
            <a:custGeom>
              <a:avLst/>
              <a:gdLst/>
              <a:ahLst/>
              <a:cxnLst/>
              <a:rect r="r" b="b" t="t" l="l"/>
              <a:pathLst>
                <a:path h="1038717" w="5456825">
                  <a:moveTo>
                    <a:pt x="16815" y="0"/>
                  </a:moveTo>
                  <a:lnTo>
                    <a:pt x="5440011" y="0"/>
                  </a:lnTo>
                  <a:cubicBezTo>
                    <a:pt x="5444470" y="0"/>
                    <a:pt x="5448747" y="1772"/>
                    <a:pt x="5451901" y="4925"/>
                  </a:cubicBezTo>
                  <a:cubicBezTo>
                    <a:pt x="5455054" y="8078"/>
                    <a:pt x="5456825" y="12355"/>
                    <a:pt x="5456825" y="16815"/>
                  </a:cubicBezTo>
                  <a:lnTo>
                    <a:pt x="5456825" y="1021902"/>
                  </a:lnTo>
                  <a:cubicBezTo>
                    <a:pt x="5456825" y="1026362"/>
                    <a:pt x="5455054" y="1030639"/>
                    <a:pt x="5451901" y="1033792"/>
                  </a:cubicBezTo>
                  <a:cubicBezTo>
                    <a:pt x="5448747" y="1036945"/>
                    <a:pt x="5444470" y="1038717"/>
                    <a:pt x="5440011" y="1038717"/>
                  </a:cubicBezTo>
                  <a:lnTo>
                    <a:pt x="16815" y="1038717"/>
                  </a:lnTo>
                  <a:cubicBezTo>
                    <a:pt x="12355" y="1038717"/>
                    <a:pt x="8078" y="1036945"/>
                    <a:pt x="4925" y="1033792"/>
                  </a:cubicBezTo>
                  <a:cubicBezTo>
                    <a:pt x="1772" y="1030639"/>
                    <a:pt x="0" y="1026362"/>
                    <a:pt x="0" y="1021902"/>
                  </a:cubicBezTo>
                  <a:lnTo>
                    <a:pt x="0" y="16815"/>
                  </a:lnTo>
                  <a:cubicBezTo>
                    <a:pt x="0" y="12355"/>
                    <a:pt x="1772" y="8078"/>
                    <a:pt x="4925" y="4925"/>
                  </a:cubicBezTo>
                  <a:cubicBezTo>
                    <a:pt x="8078" y="1772"/>
                    <a:pt x="12355" y="0"/>
                    <a:pt x="16815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456825" cy="1124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28259" y="951751"/>
            <a:ext cx="7911712" cy="3528350"/>
            <a:chOff x="0" y="0"/>
            <a:chExt cx="1543938" cy="688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938" cy="688543"/>
            </a:xfrm>
            <a:custGeom>
              <a:avLst/>
              <a:gdLst/>
              <a:ahLst/>
              <a:cxnLst/>
              <a:rect r="r" b="b" t="t" l="l"/>
              <a:pathLst>
                <a:path h="688543" w="1543938">
                  <a:moveTo>
                    <a:pt x="58712" y="0"/>
                  </a:moveTo>
                  <a:lnTo>
                    <a:pt x="1485226" y="0"/>
                  </a:lnTo>
                  <a:cubicBezTo>
                    <a:pt x="1517651" y="0"/>
                    <a:pt x="1543938" y="26286"/>
                    <a:pt x="1543938" y="58712"/>
                  </a:cubicBezTo>
                  <a:lnTo>
                    <a:pt x="1543938" y="629831"/>
                  </a:lnTo>
                  <a:cubicBezTo>
                    <a:pt x="1543938" y="662257"/>
                    <a:pt x="1517651" y="688543"/>
                    <a:pt x="1485226" y="688543"/>
                  </a:cubicBezTo>
                  <a:lnTo>
                    <a:pt x="58712" y="688543"/>
                  </a:lnTo>
                  <a:cubicBezTo>
                    <a:pt x="26286" y="688543"/>
                    <a:pt x="0" y="662257"/>
                    <a:pt x="0" y="629831"/>
                  </a:cubicBezTo>
                  <a:lnTo>
                    <a:pt x="0" y="58712"/>
                  </a:lnTo>
                  <a:cubicBezTo>
                    <a:pt x="0" y="26286"/>
                    <a:pt x="26286" y="0"/>
                    <a:pt x="5871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033" r="0" b="-110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4918" y="4670227"/>
            <a:ext cx="995232" cy="9952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12961" y="4928269"/>
            <a:ext cx="479147" cy="479147"/>
          </a:xfrm>
          <a:custGeom>
            <a:avLst/>
            <a:gdLst/>
            <a:ahLst/>
            <a:cxnLst/>
            <a:rect r="r" b="b" t="t" l="l"/>
            <a:pathLst>
              <a:path h="479147" w="479147">
                <a:moveTo>
                  <a:pt x="0" y="0"/>
                </a:moveTo>
                <a:lnTo>
                  <a:pt x="479147" y="0"/>
                </a:lnTo>
                <a:lnTo>
                  <a:pt x="479147" y="479147"/>
                </a:lnTo>
                <a:lnTo>
                  <a:pt x="0" y="479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288831" y="4670227"/>
            <a:ext cx="995232" cy="99523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546874" y="4928269"/>
            <a:ext cx="479147" cy="479147"/>
          </a:xfrm>
          <a:custGeom>
            <a:avLst/>
            <a:gdLst/>
            <a:ahLst/>
            <a:cxnLst/>
            <a:rect r="r" b="b" t="t" l="l"/>
            <a:pathLst>
              <a:path h="479147" w="479147">
                <a:moveTo>
                  <a:pt x="0" y="0"/>
                </a:moveTo>
                <a:lnTo>
                  <a:pt x="479147" y="0"/>
                </a:lnTo>
                <a:lnTo>
                  <a:pt x="479147" y="479147"/>
                </a:lnTo>
                <a:lnTo>
                  <a:pt x="0" y="479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69969" y="4670227"/>
            <a:ext cx="995232" cy="99523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8011" y="4928269"/>
            <a:ext cx="479147" cy="479147"/>
          </a:xfrm>
          <a:custGeom>
            <a:avLst/>
            <a:gdLst/>
            <a:ahLst/>
            <a:cxnLst/>
            <a:rect r="r" b="b" t="t" l="l"/>
            <a:pathLst>
              <a:path h="479147" w="479147">
                <a:moveTo>
                  <a:pt x="0" y="0"/>
                </a:moveTo>
                <a:lnTo>
                  <a:pt x="479147" y="0"/>
                </a:lnTo>
                <a:lnTo>
                  <a:pt x="479147" y="479147"/>
                </a:lnTo>
                <a:lnTo>
                  <a:pt x="0" y="479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303881" y="4670227"/>
            <a:ext cx="995232" cy="99523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B3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561924" y="4928269"/>
            <a:ext cx="479147" cy="479147"/>
          </a:xfrm>
          <a:custGeom>
            <a:avLst/>
            <a:gdLst/>
            <a:ahLst/>
            <a:cxnLst/>
            <a:rect r="r" b="b" t="t" l="l"/>
            <a:pathLst>
              <a:path h="479147" w="479147">
                <a:moveTo>
                  <a:pt x="0" y="0"/>
                </a:moveTo>
                <a:lnTo>
                  <a:pt x="479147" y="0"/>
                </a:lnTo>
                <a:lnTo>
                  <a:pt x="479147" y="479147"/>
                </a:lnTo>
                <a:lnTo>
                  <a:pt x="0" y="479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0" y="-114300"/>
            <a:ext cx="7390943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Implement</a:t>
            </a:r>
            <a:r>
              <a:rPr lang="en-US" b="true" sz="6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ation Overview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050" y="5832786"/>
            <a:ext cx="4783418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1: Network Inf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rastructure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a custom VPC (10.0.0.0/16) with Public and Private subnets.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Configured Internet Gateway and NAT Gateway for controlled connectivity.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652040" y="5924021"/>
            <a:ext cx="4061291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2: D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atabase Setup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Launched Amazon RDS in a private subnet.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Restricted traffic via Security Groups to allow connections only from the Application layer (Port 3306/5432).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713331" y="5924021"/>
            <a:ext cx="3986771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3: C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ontainerizat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Dockerized the Python application and pushed the image to Amazon ECR (Elastic Container Registry).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700102" y="5832786"/>
            <a:ext cx="3540631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 4: Orch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estration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Deployed an ECS Service with Auto-Recovery to ensure the application always stays running ("Steady State").</a:t>
            </a:r>
          </a:p>
          <a:p>
            <a:pPr algn="l">
              <a:lnSpc>
                <a:spcPts val="2800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6545436" y="1028700"/>
            <a:ext cx="713864" cy="8229600"/>
            <a:chOff x="0" y="0"/>
            <a:chExt cx="951819" cy="109728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51819" cy="10972800"/>
              <a:chOff x="0" y="0"/>
              <a:chExt cx="188014" cy="216746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801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188014">
                    <a:moveTo>
                      <a:pt x="94007" y="0"/>
                    </a:moveTo>
                    <a:lnTo>
                      <a:pt x="94007" y="0"/>
                    </a:lnTo>
                    <a:cubicBezTo>
                      <a:pt x="118939" y="0"/>
                      <a:pt x="142850" y="9904"/>
                      <a:pt x="160480" y="27534"/>
                    </a:cubicBezTo>
                    <a:cubicBezTo>
                      <a:pt x="178109" y="45164"/>
                      <a:pt x="188014" y="69075"/>
                      <a:pt x="188014" y="94007"/>
                    </a:cubicBezTo>
                    <a:lnTo>
                      <a:pt x="188014" y="2073460"/>
                    </a:lnTo>
                    <a:cubicBezTo>
                      <a:pt x="188014" y="2125378"/>
                      <a:pt x="145925" y="2167467"/>
                      <a:pt x="94007" y="2167467"/>
                    </a:cubicBezTo>
                    <a:lnTo>
                      <a:pt x="94007" y="2167467"/>
                    </a:lnTo>
                    <a:cubicBezTo>
                      <a:pt x="42088" y="2167467"/>
                      <a:pt x="0" y="2125378"/>
                      <a:pt x="0" y="2073460"/>
                    </a:cubicBezTo>
                    <a:lnTo>
                      <a:pt x="0" y="94007"/>
                    </a:lnTo>
                    <a:cubicBezTo>
                      <a:pt x="0" y="42088"/>
                      <a:pt x="42088" y="0"/>
                      <a:pt x="94007" y="0"/>
                    </a:cubicBezTo>
                    <a:close/>
                  </a:path>
                </a:pathLst>
              </a:custGeom>
              <a:solidFill>
                <a:srgbClr val="FFF7F2"/>
              </a:solidFill>
              <a:ln w="38100" cap="rnd">
                <a:solidFill>
                  <a:srgbClr val="092729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85725"/>
                <a:ext cx="188014" cy="2253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501310" y="1576551"/>
              <a:ext cx="0" cy="2813181"/>
            </a:xfrm>
            <a:prstGeom prst="line">
              <a:avLst/>
            </a:prstGeom>
            <a:ln cap="flat" w="50800">
              <a:solidFill>
                <a:srgbClr val="E6B37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48801" y="506399"/>
              <a:ext cx="654218" cy="654218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B37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299118" y="630086"/>
              <a:ext cx="353584" cy="406844"/>
            </a:xfrm>
            <a:custGeom>
              <a:avLst/>
              <a:gdLst/>
              <a:ahLst/>
              <a:cxnLst/>
              <a:rect r="r" b="b" t="t" l="l"/>
              <a:pathLst>
                <a:path h="406844" w="353584">
                  <a:moveTo>
                    <a:pt x="0" y="0"/>
                  </a:moveTo>
                  <a:lnTo>
                    <a:pt x="353584" y="0"/>
                  </a:lnTo>
                  <a:lnTo>
                    <a:pt x="353584" y="406844"/>
                  </a:lnTo>
                  <a:lnTo>
                    <a:pt x="0" y="406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251525" y="-79053"/>
            <a:ext cx="1139417" cy="3424478"/>
          </a:xfrm>
          <a:custGeom>
            <a:avLst/>
            <a:gdLst/>
            <a:ahLst/>
            <a:cxnLst/>
            <a:rect r="r" b="b" t="t" l="l"/>
            <a:pathLst>
              <a:path h="3424478" w="1139417">
                <a:moveTo>
                  <a:pt x="0" y="0"/>
                </a:moveTo>
                <a:lnTo>
                  <a:pt x="1139418" y="0"/>
                </a:lnTo>
                <a:lnTo>
                  <a:pt x="1139418" y="3424479"/>
                </a:lnTo>
                <a:lnTo>
                  <a:pt x="0" y="34244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291876" y="9777344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-5400000">
            <a:off x="13659869" y="180580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1" y="0"/>
                </a:lnTo>
                <a:lnTo>
                  <a:pt x="1362871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752711" y="558616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631" y="5579228"/>
            <a:ext cx="8683635" cy="5320700"/>
          </a:xfrm>
          <a:custGeom>
            <a:avLst/>
            <a:gdLst/>
            <a:ahLst/>
            <a:cxnLst/>
            <a:rect r="r" b="b" t="t" l="l"/>
            <a:pathLst>
              <a:path h="5320700" w="8683635">
                <a:moveTo>
                  <a:pt x="0" y="0"/>
                </a:moveTo>
                <a:lnTo>
                  <a:pt x="8683635" y="0"/>
                </a:lnTo>
                <a:lnTo>
                  <a:pt x="8683635" y="5320700"/>
                </a:lnTo>
                <a:lnTo>
                  <a:pt x="0" y="532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10167" y="1458699"/>
            <a:ext cx="4210206" cy="7369603"/>
            <a:chOff x="0" y="0"/>
            <a:chExt cx="639687" cy="1119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4"/>
              <a:stretch>
                <a:fillRect l="-11797" t="0" r="-15076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71914" y="1808112"/>
            <a:ext cx="8553473" cy="6670776"/>
            <a:chOff x="0" y="0"/>
            <a:chExt cx="2252766" cy="1756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767" cy="1756912"/>
            </a:xfrm>
            <a:custGeom>
              <a:avLst/>
              <a:gdLst/>
              <a:ahLst/>
              <a:cxnLst/>
              <a:rect r="r" b="b" t="t" l="l"/>
              <a:pathLst>
                <a:path h="1756912" w="2252767">
                  <a:moveTo>
                    <a:pt x="40730" y="0"/>
                  </a:moveTo>
                  <a:lnTo>
                    <a:pt x="2212036" y="0"/>
                  </a:lnTo>
                  <a:cubicBezTo>
                    <a:pt x="2234531" y="0"/>
                    <a:pt x="2252767" y="18236"/>
                    <a:pt x="2252767" y="40730"/>
                  </a:cubicBezTo>
                  <a:lnTo>
                    <a:pt x="2252767" y="1716182"/>
                  </a:lnTo>
                  <a:cubicBezTo>
                    <a:pt x="2252767" y="1738677"/>
                    <a:pt x="2234531" y="1756912"/>
                    <a:pt x="2212036" y="1756912"/>
                  </a:cubicBezTo>
                  <a:lnTo>
                    <a:pt x="40730" y="1756912"/>
                  </a:lnTo>
                  <a:cubicBezTo>
                    <a:pt x="18236" y="1756912"/>
                    <a:pt x="0" y="1738677"/>
                    <a:pt x="0" y="1716182"/>
                  </a:cubicBezTo>
                  <a:lnTo>
                    <a:pt x="0" y="40730"/>
                  </a:lnTo>
                  <a:cubicBezTo>
                    <a:pt x="0" y="18236"/>
                    <a:pt x="18236" y="0"/>
                    <a:pt x="40730" y="0"/>
                  </a:cubicBezTo>
                  <a:close/>
                </a:path>
              </a:pathLst>
            </a:custGeom>
            <a:solidFill>
              <a:srgbClr val="FFE7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52766" cy="1842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71914" y="1926519"/>
            <a:ext cx="8553473" cy="640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614" indent="-245807" lvl="1">
              <a:lnSpc>
                <a:spcPts val="3187"/>
              </a:lnSpc>
              <a:buFont typeface="Arial"/>
              <a:buChar char="•"/>
            </a:pPr>
            <a:r>
              <a:rPr lang="en-US" b="true" sz="2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Performance: </a:t>
            </a:r>
            <a:r>
              <a:rPr lang="en-US" sz="2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Applicati</a:t>
            </a:r>
            <a:r>
              <a:rPr lang="en-US" sz="2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Load Balancer maintained a response time of &lt;200ms under traffic load.</a:t>
            </a:r>
          </a:p>
          <a:p>
            <a:pPr algn="l">
              <a:lnSpc>
                <a:spcPts val="3187"/>
              </a:lnSpc>
            </a:pPr>
          </a:p>
          <a:p>
            <a:pPr algn="l" marL="491614" indent="-245807" lvl="1">
              <a:lnSpc>
                <a:spcPts val="3187"/>
              </a:lnSpc>
              <a:buFont typeface="Arial"/>
              <a:buChar char="•"/>
            </a:pPr>
            <a:r>
              <a:rPr lang="en-US" b="true" sz="2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Reliability:</a:t>
            </a:r>
            <a:r>
              <a:rPr lang="en-US" sz="2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ECS Service successfully achieved and maintained a "Steady State," automatically recovering from any task failures.</a:t>
            </a:r>
          </a:p>
          <a:p>
            <a:pPr algn="l">
              <a:lnSpc>
                <a:spcPts val="3187"/>
              </a:lnSpc>
            </a:pPr>
          </a:p>
          <a:p>
            <a:pPr algn="l" marL="491614" indent="-245807" lvl="1">
              <a:lnSpc>
                <a:spcPts val="3187"/>
              </a:lnSpc>
              <a:buFont typeface="Arial"/>
              <a:buChar char="•"/>
            </a:pPr>
            <a:r>
              <a:rPr lang="en-US" b="true" sz="2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Security:</a:t>
            </a:r>
            <a:r>
              <a:rPr lang="en-US" sz="2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Penetration testing confirmed that the Database is inaccessible from the public internet, verifying the success of the private subnet isolation.</a:t>
            </a:r>
          </a:p>
          <a:p>
            <a:pPr algn="l">
              <a:lnSpc>
                <a:spcPts val="3187"/>
              </a:lnSpc>
            </a:pPr>
          </a:p>
          <a:p>
            <a:pPr algn="l" marL="491614" indent="-245807" lvl="1">
              <a:lnSpc>
                <a:spcPts val="3187"/>
              </a:lnSpc>
              <a:buFont typeface="Arial"/>
              <a:buChar char="•"/>
            </a:pPr>
            <a:r>
              <a:rPr lang="en-US" b="true" sz="2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Observability:</a:t>
            </a:r>
            <a:r>
              <a:rPr lang="en-US" sz="22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Amazon CloudWatch successfully captured real-time logs (e.g., "User uploaded image"), providing a full audit trail.</a:t>
            </a:r>
          </a:p>
          <a:p>
            <a:pPr algn="l">
              <a:lnSpc>
                <a:spcPts val="318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4504" y="4461311"/>
            <a:ext cx="4361213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 &amp; Analysis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391319">
            <a:off x="954204" y="1645892"/>
            <a:ext cx="1145806" cy="3443678"/>
          </a:xfrm>
          <a:custGeom>
            <a:avLst/>
            <a:gdLst/>
            <a:ahLst/>
            <a:cxnLst/>
            <a:rect r="r" b="b" t="t" l="l"/>
            <a:pathLst>
              <a:path h="3443678" w="1145806">
                <a:moveTo>
                  <a:pt x="0" y="0"/>
                </a:moveTo>
                <a:lnTo>
                  <a:pt x="1145806" y="0"/>
                </a:lnTo>
                <a:lnTo>
                  <a:pt x="1145806" y="3443678"/>
                </a:lnTo>
                <a:lnTo>
                  <a:pt x="0" y="3443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91876" y="9777344"/>
            <a:ext cx="749335" cy="749335"/>
          </a:xfrm>
          <a:custGeom>
            <a:avLst/>
            <a:gdLst/>
            <a:ahLst/>
            <a:cxnLst/>
            <a:rect r="r" b="b" t="t" l="l"/>
            <a:pathLst>
              <a:path h="749335" w="749335">
                <a:moveTo>
                  <a:pt x="0" y="0"/>
                </a:moveTo>
                <a:lnTo>
                  <a:pt x="749335" y="0"/>
                </a:lnTo>
                <a:lnTo>
                  <a:pt x="749335" y="749335"/>
                </a:lnTo>
                <a:lnTo>
                  <a:pt x="0" y="749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5928731" y="2099073"/>
            <a:ext cx="1362870" cy="1542343"/>
          </a:xfrm>
          <a:custGeom>
            <a:avLst/>
            <a:gdLst/>
            <a:ahLst/>
            <a:cxnLst/>
            <a:rect r="r" b="b" t="t" l="l"/>
            <a:pathLst>
              <a:path h="1542343" w="1362870">
                <a:moveTo>
                  <a:pt x="0" y="0"/>
                </a:moveTo>
                <a:lnTo>
                  <a:pt x="1362871" y="0"/>
                </a:lnTo>
                <a:lnTo>
                  <a:pt x="1362871" y="1542343"/>
                </a:lnTo>
                <a:lnTo>
                  <a:pt x="0" y="154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077101" y="8120182"/>
            <a:ext cx="470084" cy="470084"/>
          </a:xfrm>
          <a:custGeom>
            <a:avLst/>
            <a:gdLst/>
            <a:ahLst/>
            <a:cxnLst/>
            <a:rect r="r" b="b" t="t" l="l"/>
            <a:pathLst>
              <a:path h="470084" w="470084">
                <a:moveTo>
                  <a:pt x="0" y="0"/>
                </a:moveTo>
                <a:lnTo>
                  <a:pt x="470084" y="0"/>
                </a:lnTo>
                <a:lnTo>
                  <a:pt x="470084" y="470084"/>
                </a:lnTo>
                <a:lnTo>
                  <a:pt x="0" y="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DAG73R0jJjo</dc:identifier>
  <dcterms:modified xsi:type="dcterms:W3CDTF">2011-08-01T06:04:30Z</dcterms:modified>
  <cp:revision>1</cp:revision>
  <dc:title>Tan Modern Pitch Deck Presentation</dc:title>
</cp:coreProperties>
</file>