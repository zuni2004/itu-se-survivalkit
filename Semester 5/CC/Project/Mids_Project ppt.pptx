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58" r:id="rId1"/>
  </p:sldMasterIdLst>
  <p:notesMasterIdLst>
    <p:notesMasterId r:id="rId18"/>
  </p:notesMasterIdLst>
  <p:sldIdLst>
    <p:sldId id="258" r:id="rId2"/>
    <p:sldId id="1770" r:id="rId3"/>
    <p:sldId id="1772" r:id="rId4"/>
    <p:sldId id="1788" r:id="rId5"/>
    <p:sldId id="1789" r:id="rId6"/>
    <p:sldId id="1790" r:id="rId7"/>
    <p:sldId id="1782" r:id="rId8"/>
    <p:sldId id="1779" r:id="rId9"/>
    <p:sldId id="1780" r:id="rId10"/>
    <p:sldId id="1778" r:id="rId11"/>
    <p:sldId id="1783" r:id="rId12"/>
    <p:sldId id="1781" r:id="rId13"/>
    <p:sldId id="1784" r:id="rId14"/>
    <p:sldId id="1785" r:id="rId15"/>
    <p:sldId id="1786" r:id="rId16"/>
    <p:sldId id="1787" r:id="rId17"/>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74" clrIdx="0">
    <p:extLst>
      <p:ext uri="{19B8F6BF-5375-455C-9EA6-DF929625EA0E}">
        <p15:presenceInfo xmlns:p15="http://schemas.microsoft.com/office/powerpoint/2012/main" userId="S-1-5-21-1407069837-2091007605-538272213-31813507" providerId="AD"/>
      </p:ext>
    </p:extLst>
  </p:cmAuthor>
  <p:cmAuthor id="2" name="Wang, Carrie" initials="WC" lastIdx="34" clrIdx="1">
    <p:extLst>
      <p:ext uri="{19B8F6BF-5375-455C-9EA6-DF929625EA0E}">
        <p15:presenceInfo xmlns:p15="http://schemas.microsoft.com/office/powerpoint/2012/main" userId="S-1-5-21-1407069837-2091007605-538272213-49903310" providerId="AD"/>
      </p:ext>
    </p:extLst>
  </p:cmAuthor>
  <p:cmAuthor id="3" name="Daswani, Monisha" initials="DM" lastIdx="5" clrIdx="2">
    <p:extLst>
      <p:ext uri="{19B8F6BF-5375-455C-9EA6-DF929625EA0E}">
        <p15:presenceInfo xmlns:p15="http://schemas.microsoft.com/office/powerpoint/2012/main" userId="S-1-5-21-1407069837-2091007605-538272213-41758195" providerId="AD"/>
      </p:ext>
    </p:extLst>
  </p:cmAuthor>
  <p:cmAuthor id="4" name="Microsoft Office User" initials="MOU" lastIdx="31" clrIdx="3">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44" autoAdjust="0"/>
    <p:restoredTop sz="58678" autoAdjust="0"/>
  </p:normalViewPr>
  <p:slideViewPr>
    <p:cSldViewPr snapToGrid="0">
      <p:cViewPr varScale="1">
        <p:scale>
          <a:sx n="58" d="100"/>
          <a:sy n="58" d="100"/>
        </p:scale>
        <p:origin x="2304" y="60"/>
      </p:cViewPr>
      <p:guideLst/>
    </p:cSldViewPr>
  </p:slideViewPr>
  <p:notesTextViewPr>
    <p:cViewPr>
      <p:scale>
        <a:sx n="1" d="1"/>
        <a:sy n="1" d="1"/>
      </p:scale>
      <p:origin x="0" y="0"/>
    </p:cViewPr>
  </p:notesTextViewPr>
  <p:sorterViewPr>
    <p:cViewPr>
      <p:scale>
        <a:sx n="100" d="100"/>
        <a:sy n="100" d="100"/>
      </p:scale>
      <p:origin x="0" y="-11742"/>
    </p:cViewPr>
  </p:sorterViewPr>
  <p:notesViewPr>
    <p:cSldViewPr snapToGrid="0">
      <p:cViewPr varScale="1">
        <p:scale>
          <a:sx n="79" d="100"/>
          <a:sy n="79" d="100"/>
        </p:scale>
        <p:origin x="37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5890323"/>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lvl="0"/>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1714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The entire system resides within a </a:t>
            </a:r>
            <a:r>
              <a:rPr lang="en-US" b="1" dirty="0"/>
              <a:t>VPC</a:t>
            </a:r>
            <a:r>
              <a:rPr lang="en-US" dirty="0"/>
              <a:t> (Virtual Private Cloud) and is distributed across </a:t>
            </a:r>
            <a:r>
              <a:rPr lang="en-US" b="1" dirty="0"/>
              <a:t>two Availability Zones (AZs)</a:t>
            </a:r>
            <a:r>
              <a:rPr lang="en-US" dirty="0"/>
              <a:t>, ensuring resilience against zone failure. User traffic enters via the </a:t>
            </a:r>
            <a:r>
              <a:rPr lang="en-US" b="1" dirty="0"/>
              <a:t>Internet Gateway</a:t>
            </a:r>
            <a:r>
              <a:rPr lang="en-US" dirty="0"/>
              <a:t> and is balanced by an </a:t>
            </a:r>
            <a:r>
              <a:rPr lang="en-US" b="1" dirty="0"/>
              <a:t>Application Load Balancer (ALB)</a:t>
            </a:r>
            <a:r>
              <a:rPr lang="en-US" dirty="0"/>
              <a:t>, which directs requests to the application servers. These EC2 web servers are managed by </a:t>
            </a:r>
            <a:r>
              <a:rPr lang="en-US" b="1" dirty="0"/>
              <a:t>Auto Scaling</a:t>
            </a:r>
            <a:r>
              <a:rPr lang="en-US" dirty="0"/>
              <a:t> for dynamic capacity adjustments. Crucially, your architecture is secure: the EC2 instances live in both </a:t>
            </a:r>
            <a:r>
              <a:rPr lang="en-US" b="1" dirty="0"/>
              <a:t>Public and Private Subnets</a:t>
            </a:r>
            <a:r>
              <a:rPr lang="en-US" dirty="0"/>
              <a:t>, while the </a:t>
            </a:r>
            <a:r>
              <a:rPr lang="en-US" b="1" dirty="0"/>
              <a:t>RDS Database</a:t>
            </a:r>
            <a:r>
              <a:rPr lang="en-US" dirty="0"/>
              <a:t> is isolated entirely within the </a:t>
            </a:r>
            <a:r>
              <a:rPr lang="en-US" b="1" dirty="0"/>
              <a:t>Private Subnets</a:t>
            </a:r>
            <a:r>
              <a:rPr lang="en-US" dirty="0"/>
              <a:t>, preventing direct public access. The servers use an </a:t>
            </a:r>
            <a:r>
              <a:rPr lang="en-US" b="1" dirty="0"/>
              <a:t>IAM Role</a:t>
            </a:r>
            <a:r>
              <a:rPr lang="en-US" dirty="0"/>
              <a:t> to access resources securely without needing hardcoded credentials.</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63448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97708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56295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The links to access the website </a:t>
            </a:r>
          </a:p>
        </p:txBody>
      </p:sp>
    </p:spTree>
    <p:extLst>
      <p:ext uri="{BB962C8B-B14F-4D97-AF65-F5344CB8AC3E}">
        <p14:creationId xmlns:p14="http://schemas.microsoft.com/office/powerpoint/2010/main" val="1058153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Main page of website</a:t>
            </a:r>
          </a:p>
        </p:txBody>
      </p:sp>
    </p:spTree>
    <p:extLst>
      <p:ext uri="{BB962C8B-B14F-4D97-AF65-F5344CB8AC3E}">
        <p14:creationId xmlns:p14="http://schemas.microsoft.com/office/powerpoint/2010/main" val="3841742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dirty="0"/>
              <a:t>Shows the students list</a:t>
            </a:r>
            <a:endParaRPr lang="en-US" dirty="0"/>
          </a:p>
        </p:txBody>
      </p:sp>
    </p:spTree>
    <p:extLst>
      <p:ext uri="{BB962C8B-B14F-4D97-AF65-F5344CB8AC3E}">
        <p14:creationId xmlns:p14="http://schemas.microsoft.com/office/powerpoint/2010/main" val="3726690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 initial setup of the highly available application on </a:t>
            </a:r>
            <a:r>
              <a:rPr lang="en-US" b="1" dirty="0"/>
              <a:t>November 9th</a:t>
            </a:r>
            <a:r>
              <a:rPr lang="en-US" dirty="0"/>
              <a:t> confirmed the proper function of the Auto Scaling Group's core feature: </a:t>
            </a:r>
            <a:r>
              <a:rPr lang="en-US" b="1" dirty="0"/>
              <a:t>auto-healing</a:t>
            </a:r>
            <a:r>
              <a:rPr lang="en-US" dirty="0"/>
              <a:t>. The ASG was initially configured with a </a:t>
            </a:r>
            <a:r>
              <a:rPr lang="en-US" b="1" dirty="0"/>
              <a:t>Minimum capacity (Min) of 2</a:t>
            </a:r>
            <a:r>
              <a:rPr lang="en-US" dirty="0"/>
              <a:t> and a </a:t>
            </a:r>
            <a:r>
              <a:rPr lang="en-US" b="1" dirty="0"/>
              <a:t>Desired capacity of 2</a:t>
            </a:r>
            <a:r>
              <a:rPr lang="en-US" dirty="0"/>
              <a:t>, meaning it started with two running EC2 instances. The Activity History log confirms the initial launch of these two instances. Crucially, the logs then show four subsequent successful events demonstrating auto-healing: two instances were flagged as unhealthy and terminated, and the ASG immediately launched two new instances to replace them, ensuring the running capacity remained constant at the </a:t>
            </a:r>
            <a:r>
              <a:rPr lang="en-US" b="1" dirty="0"/>
              <a:t>Desired capacity of 2</a:t>
            </a:r>
            <a:r>
              <a:rPr lang="en-US" dirty="0"/>
              <a:t>. This verifies that the system is resilient and capable of maintaining service availability by automatically recovering from instance failures.</a:t>
            </a:r>
          </a:p>
        </p:txBody>
      </p:sp>
    </p:spTree>
    <p:extLst>
      <p:ext uri="{BB962C8B-B14F-4D97-AF65-F5344CB8AC3E}">
        <p14:creationId xmlns:p14="http://schemas.microsoft.com/office/powerpoint/2010/main" val="2100685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endParaRPr lang="en-PK" dirty="0"/>
          </a:p>
        </p:txBody>
      </p:sp>
    </p:spTree>
    <p:extLst>
      <p:ext uri="{BB962C8B-B14F-4D97-AF65-F5344CB8AC3E}">
        <p14:creationId xmlns:p14="http://schemas.microsoft.com/office/powerpoint/2010/main" val="1529988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endParaRPr lang="en-US" dirty="0"/>
          </a:p>
        </p:txBody>
      </p:sp>
    </p:spTree>
    <p:extLst>
      <p:ext uri="{BB962C8B-B14F-4D97-AF65-F5344CB8AC3E}">
        <p14:creationId xmlns:p14="http://schemas.microsoft.com/office/powerpoint/2010/main" val="243818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The core goal of achieving scalability was successfully demonstrated on </a:t>
            </a:r>
            <a:r>
              <a:rPr lang="en-US" b="1" dirty="0"/>
              <a:t>November 19th</a:t>
            </a:r>
            <a:r>
              <a:rPr lang="en-US" dirty="0"/>
              <a:t>. An initial low load of </a:t>
            </a:r>
            <a:r>
              <a:rPr lang="en-US" b="1" dirty="0"/>
              <a:t>1,000 RPS</a:t>
            </a:r>
            <a:r>
              <a:rPr lang="en-US" dirty="0"/>
              <a:t> was handled flawlessly (latency: </a:t>
            </a:r>
            <a:r>
              <a:rPr lang="en-US" b="1" dirty="0"/>
              <a:t>2.2 </a:t>
            </a:r>
            <a:r>
              <a:rPr lang="en-US" b="1" dirty="0" err="1"/>
              <a:t>ms</a:t>
            </a:r>
            <a:r>
              <a:rPr lang="en-US" dirty="0"/>
              <a:t>), proving the initial 2-instance setup was effective for normal traffic. To force a scaling event, the capacity was manually increased to </a:t>
            </a:r>
            <a:r>
              <a:rPr lang="en-US" b="1" dirty="0"/>
              <a:t>4 instances</a:t>
            </a:r>
            <a:r>
              <a:rPr lang="en-US" dirty="0"/>
              <a:t>. A subsequent heavy load of </a:t>
            </a:r>
            <a:r>
              <a:rPr lang="en-US" b="1" dirty="0"/>
              <a:t>4,000 RPS</a:t>
            </a:r>
            <a:r>
              <a:rPr lang="en-US" dirty="0"/>
              <a:t> caused severe degradation (latency spiked to </a:t>
            </a:r>
            <a:r>
              <a:rPr lang="en-US" b="1" dirty="0"/>
              <a:t>479 </a:t>
            </a:r>
            <a:r>
              <a:rPr lang="en-US" b="1" dirty="0" err="1"/>
              <a:t>ms</a:t>
            </a:r>
            <a:r>
              <a:rPr lang="en-US" dirty="0"/>
              <a:t>), confirming the application was </a:t>
            </a:r>
            <a:r>
              <a:rPr lang="en-US" b="1" dirty="0"/>
              <a:t>bottlenecked</a:t>
            </a:r>
            <a:r>
              <a:rPr lang="en-US" dirty="0"/>
              <a:t> and the </a:t>
            </a:r>
            <a:r>
              <a:rPr lang="en-US" b="1" dirty="0"/>
              <a:t>Auto Scaling Triggered</a:t>
            </a:r>
            <a:r>
              <a:rPr lang="en-US" dirty="0"/>
              <a:t>. Though the maximum scale-out was not fully captured, the policy proved active by successfully executing an </a:t>
            </a:r>
            <a:r>
              <a:rPr lang="en-US" b="1" dirty="0"/>
              <a:t>Automatic Scale-In</a:t>
            </a:r>
            <a:r>
              <a:rPr lang="en-US" dirty="0"/>
              <a:t> when the load test stopped, reducing the capacity from 4 instances back down to the final, cost-optimized level of </a:t>
            </a:r>
            <a:r>
              <a:rPr lang="en-US" b="1" dirty="0"/>
              <a:t>2 instances</a:t>
            </a:r>
            <a:r>
              <a:rPr lang="en-US" dirty="0"/>
              <a:t> (as seen in the capacity logs).</a:t>
            </a:r>
          </a:p>
        </p:txBody>
      </p:sp>
    </p:spTree>
    <p:extLst>
      <p:ext uri="{BB962C8B-B14F-4D97-AF65-F5344CB8AC3E}">
        <p14:creationId xmlns:p14="http://schemas.microsoft.com/office/powerpoint/2010/main" val="3344295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endParaRPr lang="en-PK" dirty="0"/>
          </a:p>
        </p:txBody>
      </p:sp>
    </p:spTree>
    <p:extLst>
      <p:ext uri="{BB962C8B-B14F-4D97-AF65-F5344CB8AC3E}">
        <p14:creationId xmlns:p14="http://schemas.microsoft.com/office/powerpoint/2010/main" val="17766361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6.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3460319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28369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46520"/>
            <a:ext cx="4610100" cy="311150"/>
          </a:xfrm>
          <a:prstGeom prst="rect">
            <a:avLst/>
          </a:prstGeom>
        </p:spPr>
      </p:pic>
    </p:spTree>
    <p:extLst>
      <p:ext uri="{BB962C8B-B14F-4D97-AF65-F5344CB8AC3E}">
        <p14:creationId xmlns:p14="http://schemas.microsoft.com/office/powerpoint/2010/main" val="224202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48626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dirty="0"/>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dirty="0"/>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dirty="0"/>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19"/>
            <a:ext cx="4610100" cy="311150"/>
          </a:xfrm>
          <a:prstGeom prst="rect">
            <a:avLst/>
          </a:prstGeom>
        </p:spPr>
      </p:pic>
    </p:spTree>
    <p:extLst>
      <p:ext uri="{BB962C8B-B14F-4D97-AF65-F5344CB8AC3E}">
        <p14:creationId xmlns:p14="http://schemas.microsoft.com/office/powerpoint/2010/main" val="526271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dirty="0"/>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dirty="0"/>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21861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252647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4183191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dirty="0"/>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5017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160625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418244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dirty="0"/>
              <a:t>Title, header, text, and picture</a:t>
            </a:r>
          </a:p>
        </p:txBody>
      </p:sp>
      <p:pic>
        <p:nvPicPr>
          <p:cNvPr id="99" name="Background">
            <a:extLst>
              <a:ext uri="{FF2B5EF4-FFF2-40B4-BE49-F238E27FC236}">
                <a16:creationId xmlns:a16="http://schemas.microsoft.com/office/drawing/2014/main" id="{FFFF9C37-F39B-42A9-BBBE-57586150257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07237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algn="ctr">
              <a:spcAft>
                <a:spcPts val="0"/>
              </a:spcAft>
              <a:buNone/>
              <a:defRPr sz="2000">
                <a:solidFill>
                  <a:srgbClr val="232F3E"/>
                </a:solidFill>
                <a:latin typeface="Amazon Ember Display"/>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232278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Tree>
    <p:custDataLst>
      <p:tags r:id="rId1"/>
    </p:custDataLst>
    <p:extLst>
      <p:ext uri="{BB962C8B-B14F-4D97-AF65-F5344CB8AC3E}">
        <p14:creationId xmlns:p14="http://schemas.microsoft.com/office/powerpoint/2010/main" val="3548114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5205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97191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42090080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and 2 text columns</a:t>
            </a:r>
          </a:p>
        </p:txBody>
      </p:sp>
      <p:pic>
        <p:nvPicPr>
          <p:cNvPr id="99" name="Background">
            <a:extLst>
              <a:ext uri="{FF2B5EF4-FFF2-40B4-BE49-F238E27FC236}">
                <a16:creationId xmlns:a16="http://schemas.microsoft.com/office/drawing/2014/main" id="{B5282040-FA2B-4014-827F-F5B85DA6765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39533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2 Headers, and 2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12D9B9CA-678C-44DB-A29A-D7DA4A64C7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84784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EF6C79C-9D0E-41C2-AA50-8E21FCE741EA}"/>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r="50690"/>
          <a:stretch/>
        </p:blipFill>
        <p:spPr>
          <a:xfrm>
            <a:off x="365761" y="1059966"/>
            <a:ext cx="5663184" cy="459972"/>
          </a:xfrm>
          <a:prstGeom prst="rect">
            <a:avLst/>
          </a:prstGeom>
        </p:spPr>
      </p:pic>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68802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173D7629-1A9C-4345-AAF8-04B661B01BFF}"/>
              </a:ext>
              <a:ext uri="{C183D7F6-B498-43B3-948B-1728B52AA6E4}">
                <adec:decorative xmlns:adec="http://schemas.microsoft.com/office/drawing/2017/decorative" val="1"/>
              </a:ext>
            </a:extLst>
          </p:cNvPr>
          <p:cNvGrpSpPr/>
          <p:nvPr/>
        </p:nvGrpSpPr>
        <p:grpSpPr>
          <a:xfrm>
            <a:off x="365759" y="1028377"/>
            <a:ext cx="11484866" cy="2850096"/>
            <a:chOff x="365759" y="1028377"/>
            <a:chExt cx="11484866" cy="2850096"/>
          </a:xfrm>
        </p:grpSpPr>
        <p:pic>
          <p:nvPicPr>
            <p:cNvPr id="96" name="Background">
              <a:extLst>
                <a:ext uri="{FF2B5EF4-FFF2-40B4-BE49-F238E27FC236}">
                  <a16:creationId xmlns:a16="http://schemas.microsoft.com/office/drawing/2014/main" id="{7D5C187B-1A36-4731-9D73-181529A3640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38144"/>
              <a:ext cx="11460480" cy="440329"/>
            </a:xfrm>
            <a:prstGeom prst="rect">
              <a:avLst/>
            </a:prstGeom>
          </p:spPr>
        </p:pic>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832667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4710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5E94278F-C163-4179-AC1B-35DE088D94AB}"/>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302598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60A92DB-4EDE-4A1F-9E58-683E66BD2485}"/>
              </a:ext>
              <a:ext uri="{C183D7F6-B498-43B3-948B-1728B52AA6E4}">
                <adec:decorative xmlns:adec="http://schemas.microsoft.com/office/drawing/2017/decorative" val="1"/>
              </a:ext>
            </a:extLst>
          </p:cNvPr>
          <p:cNvGrpSpPr/>
          <p:nvPr/>
        </p:nvGrpSpPr>
        <p:grpSpPr>
          <a:xfrm>
            <a:off x="353568" y="1028377"/>
            <a:ext cx="11497055" cy="4238575"/>
            <a:chOff x="353568" y="1028377"/>
            <a:chExt cx="11497055" cy="4238575"/>
          </a:xfrm>
        </p:grpSpPr>
        <p:pic>
          <p:nvPicPr>
            <p:cNvPr id="98" name="Background">
              <a:extLst>
                <a:ext uri="{FF2B5EF4-FFF2-40B4-BE49-F238E27FC236}">
                  <a16:creationId xmlns:a16="http://schemas.microsoft.com/office/drawing/2014/main" id="{0A39D91E-8E12-4EDA-A92E-1823DFEBDCA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568" y="4663440"/>
              <a:ext cx="11460480" cy="440329"/>
            </a:xfrm>
            <a:prstGeom prst="rect">
              <a:avLst/>
            </a:prstGeom>
          </p:spPr>
        </p:pic>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27175455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3427868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24426408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46623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B67500C0-6D58-4DF1-8F3C-58EFF359ECA6}"/>
              </a:ext>
              <a:ext uri="{C183D7F6-B498-43B3-948B-1728B52AA6E4}">
                <adec:decorative xmlns:adec="http://schemas.microsoft.com/office/drawing/2017/decorative" val="1"/>
              </a:ext>
            </a:extLst>
          </p:cNvPr>
          <p:cNvGrpSpPr/>
          <p:nvPr/>
        </p:nvGrpSpPr>
        <p:grpSpPr>
          <a:xfrm>
            <a:off x="365759" y="1028377"/>
            <a:ext cx="11484864" cy="2875792"/>
            <a:chOff x="365759" y="1028377"/>
            <a:chExt cx="11484864" cy="2875792"/>
          </a:xfrm>
        </p:grpSpPr>
        <p:pic>
          <p:nvPicPr>
            <p:cNvPr id="96" name="Background">
              <a:extLst>
                <a:ext uri="{FF2B5EF4-FFF2-40B4-BE49-F238E27FC236}">
                  <a16:creationId xmlns:a16="http://schemas.microsoft.com/office/drawing/2014/main" id="{7D9831B3-B423-413E-89D0-129775480B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29000"/>
              <a:ext cx="11460480" cy="440329"/>
            </a:xfrm>
            <a:prstGeom prst="rect">
              <a:avLst/>
            </a:prstGeom>
          </p:spPr>
        </p:pic>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289100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1000968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custDataLst>
      <p:tags r:id="rId1"/>
    </p:custDataLst>
    <p:extLst>
      <p:ext uri="{BB962C8B-B14F-4D97-AF65-F5344CB8AC3E}">
        <p14:creationId xmlns:p14="http://schemas.microsoft.com/office/powerpoint/2010/main" val="625701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3532074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3985460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FFC9D1B-8040-4CD3-B060-07560FFB49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1560"/>
            <a:ext cx="11484864" cy="457200"/>
          </a:xfrm>
          <a:prstGeom prst="rect">
            <a:avLst/>
          </a:prstGeom>
        </p:spPr>
      </p:pic>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501295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t="70015" r="1112" b="19988"/>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Tree>
    <p:custDataLst>
      <p:tags r:id="rId1"/>
    </p:custDataLst>
    <p:extLst>
      <p:ext uri="{BB962C8B-B14F-4D97-AF65-F5344CB8AC3E}">
        <p14:creationId xmlns:p14="http://schemas.microsoft.com/office/powerpoint/2010/main" val="16930579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0708DD83-40E9-4CDD-ADF1-464460D88C82}"/>
              </a:ext>
              <a:ext uri="{C183D7F6-B498-43B3-948B-1728B52AA6E4}">
                <adec:decorative xmlns:adec="http://schemas.microsoft.com/office/drawing/2017/decorative" val="1"/>
              </a:ext>
            </a:extLst>
          </p:cNvPr>
          <p:cNvGrpSpPr/>
          <p:nvPr/>
        </p:nvGrpSpPr>
        <p:grpSpPr>
          <a:xfrm>
            <a:off x="365759" y="1028377"/>
            <a:ext cx="11484865" cy="2877528"/>
            <a:chOff x="365759" y="1028377"/>
            <a:chExt cx="11484865" cy="2877528"/>
          </a:xfrm>
        </p:grpSpPr>
        <p:pic>
          <p:nvPicPr>
            <p:cNvPr id="96" name="Background">
              <a:extLst>
                <a:ext uri="{FF2B5EF4-FFF2-40B4-BE49-F238E27FC236}">
                  <a16:creationId xmlns:a16="http://schemas.microsoft.com/office/drawing/2014/main" id="{81AD1A9F-B900-4260-B582-AC445A80FAD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48705"/>
              <a:ext cx="11484864" cy="457200"/>
            </a:xfrm>
            <a:prstGeom prst="rect">
              <a:avLst/>
            </a:prstGeom>
          </p:spPr>
        </p:pic>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32552628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28F246DA-91CA-4502-BC7A-2F8E9D697FB1}"/>
              </a:ext>
              <a:ext uri="{C183D7F6-B498-43B3-948B-1728B52AA6E4}">
                <adec:decorative xmlns:adec="http://schemas.microsoft.com/office/drawing/2017/decorative" val="1"/>
              </a:ext>
            </a:extLst>
          </p:cNvPr>
          <p:cNvGrpSpPr/>
          <p:nvPr/>
        </p:nvGrpSpPr>
        <p:grpSpPr>
          <a:xfrm>
            <a:off x="365759" y="1028377"/>
            <a:ext cx="11484865" cy="2347997"/>
            <a:chOff x="365759" y="1028377"/>
            <a:chExt cx="11484865" cy="2347997"/>
          </a:xfrm>
        </p:grpSpPr>
        <p:pic>
          <p:nvPicPr>
            <p:cNvPr id="96" name="Background">
              <a:extLst>
                <a:ext uri="{FF2B5EF4-FFF2-40B4-BE49-F238E27FC236}">
                  <a16:creationId xmlns:a16="http://schemas.microsoft.com/office/drawing/2014/main" id="{4AA958CB-79BC-4221-AF92-52A941BCA8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2919174"/>
              <a:ext cx="11484864" cy="457200"/>
            </a:xfrm>
            <a:prstGeom prst="rect">
              <a:avLst/>
            </a:prstGeom>
          </p:spPr>
        </p:pic>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409866848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C2DB4ABF-FC80-43CA-AA01-B072E9DC200B}"/>
              </a:ext>
              <a:ext uri="{C183D7F6-B498-43B3-948B-1728B52AA6E4}">
                <adec:decorative xmlns:adec="http://schemas.microsoft.com/office/drawing/2017/decorative" val="1"/>
              </a:ext>
            </a:extLst>
          </p:cNvPr>
          <p:cNvGrpSpPr/>
          <p:nvPr/>
        </p:nvGrpSpPr>
        <p:grpSpPr>
          <a:xfrm>
            <a:off x="365759" y="1028377"/>
            <a:ext cx="11484865" cy="4173818"/>
            <a:chOff x="365759" y="1028377"/>
            <a:chExt cx="11484865" cy="4173818"/>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Background">
              <a:extLst>
                <a:ext uri="{FF2B5EF4-FFF2-40B4-BE49-F238E27FC236}">
                  <a16:creationId xmlns:a16="http://schemas.microsoft.com/office/drawing/2014/main" id="{37E98482-26B4-4B27-9672-386980590A8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60" y="4744995"/>
              <a:ext cx="11484864" cy="45720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16805585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58684019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5360166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Tree>
    <p:custDataLst>
      <p:tags r:id="rId1"/>
    </p:custDataLst>
    <p:extLst>
      <p:ext uri="{BB962C8B-B14F-4D97-AF65-F5344CB8AC3E}">
        <p14:creationId xmlns:p14="http://schemas.microsoft.com/office/powerpoint/2010/main" val="342781245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935D4C44-4726-4FC3-A8AA-03445F8D8733}"/>
              </a:ext>
              <a:ext uri="{C183D7F6-B498-43B3-948B-1728B52AA6E4}">
                <adec:decorative xmlns:adec="http://schemas.microsoft.com/office/drawing/2017/decorative" val="1"/>
              </a:ext>
            </a:extLst>
          </p:cNvPr>
          <p:cNvGrpSpPr/>
          <p:nvPr/>
        </p:nvGrpSpPr>
        <p:grpSpPr>
          <a:xfrm>
            <a:off x="365759" y="1028377"/>
            <a:ext cx="11484864" cy="4791549"/>
            <a:chOff x="365759" y="1028377"/>
            <a:chExt cx="11484864" cy="4791549"/>
          </a:xfrm>
        </p:grpSpPr>
        <p:pic>
          <p:nvPicPr>
            <p:cNvPr id="96" name="Background">
              <a:extLst>
                <a:ext uri="{FF2B5EF4-FFF2-40B4-BE49-F238E27FC236}">
                  <a16:creationId xmlns:a16="http://schemas.microsoft.com/office/drawing/2014/main" id="{14CBF7C4-FBD4-4D0D-BD04-8E2CD586D72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2816120"/>
              <a:ext cx="11443716" cy="320040"/>
            </a:xfrm>
            <a:prstGeom prst="rect">
              <a:avLst/>
            </a:prstGeom>
          </p:spPr>
        </p:pic>
        <p:pic>
          <p:nvPicPr>
            <p:cNvPr id="95" name="Background">
              <a:extLst>
                <a:ext uri="{FF2B5EF4-FFF2-40B4-BE49-F238E27FC236}">
                  <a16:creationId xmlns:a16="http://schemas.microsoft.com/office/drawing/2014/main" id="{1C58BDB7-165B-4517-A042-E46D3D85D196}"/>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5499886"/>
              <a:ext cx="11443716" cy="320040"/>
            </a:xfrm>
            <a:prstGeom prst="rect">
              <a:avLst/>
            </a:prstGeom>
          </p:spPr>
        </p:pic>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923038984"/>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layout</a:t>
            </a:r>
          </a:p>
        </p:txBody>
      </p:sp>
    </p:spTree>
    <p:custDataLst>
      <p:tags r:id="rId1"/>
    </p:custDataLst>
    <p:extLst>
      <p:ext uri="{BB962C8B-B14F-4D97-AF65-F5344CB8AC3E}">
        <p14:creationId xmlns:p14="http://schemas.microsoft.com/office/powerpoint/2010/main" val="15523815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blank layout</a:t>
            </a:r>
          </a:p>
        </p:txBody>
      </p:sp>
    </p:spTree>
    <p:custDataLst>
      <p:tags r:id="rId1"/>
    </p:custDataLst>
    <p:extLst>
      <p:ext uri="{BB962C8B-B14F-4D97-AF65-F5344CB8AC3E}">
        <p14:creationId xmlns:p14="http://schemas.microsoft.com/office/powerpoint/2010/main" val="40240413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dirty="0"/>
              <a:t>Architecture layout</a:t>
            </a:r>
          </a:p>
        </p:txBody>
      </p:sp>
    </p:spTree>
    <p:custDataLst>
      <p:tags r:id="rId1"/>
    </p:custDataLst>
    <p:extLst>
      <p:ext uri="{BB962C8B-B14F-4D97-AF65-F5344CB8AC3E}">
        <p14:creationId xmlns:p14="http://schemas.microsoft.com/office/powerpoint/2010/main" val="38923998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9597407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3762142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19470469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0886865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6530431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1816277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custDataLst>
      <p:tags r:id="rId1"/>
    </p:custDataLst>
    <p:extLst>
      <p:ext uri="{BB962C8B-B14F-4D97-AF65-F5344CB8AC3E}">
        <p14:creationId xmlns:p14="http://schemas.microsoft.com/office/powerpoint/2010/main" val="27479697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4271635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7572385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342931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480234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697864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513685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extLst>
      <p:ext uri="{BB962C8B-B14F-4D97-AF65-F5344CB8AC3E}">
        <p14:creationId xmlns:p14="http://schemas.microsoft.com/office/powerpoint/2010/main" val="42571185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dirty="0"/>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3191058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noChangeAspect="1"/>
          </p:cNvSpPr>
          <p:nvPr>
            <p:ph type="pic" idx="22" hasCustomPrompt="1"/>
          </p:nvPr>
        </p:nvSpPr>
        <p:spPr>
          <a:xfrm>
            <a:off x="8951074" y="2423160"/>
            <a:ext cx="2011680" cy="201168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827477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dirty="0"/>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Enter question text here</a:t>
            </a:r>
          </a:p>
        </p:txBody>
      </p:sp>
    </p:spTree>
    <p:custDataLst>
      <p:tags r:id="rId1"/>
    </p:custDataLst>
    <p:extLst>
      <p:ext uri="{BB962C8B-B14F-4D97-AF65-F5344CB8AC3E}">
        <p14:creationId xmlns:p14="http://schemas.microsoft.com/office/powerpoint/2010/main" val="85658978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4.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2.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3">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dirty="0"/>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dirty="0"/>
              <a:t>Edit Master text styles</a:t>
            </a:r>
          </a:p>
          <a:p>
            <a:pPr marL="457200" lvl="1" indent="-230188" defTabSz="228600">
              <a:lnSpc>
                <a:spcPct val="100000"/>
              </a:lnSpc>
              <a:spcAft>
                <a:spcPts val="600"/>
              </a:spcAft>
              <a:buFont typeface="Amazon Ember Display"/>
            </a:pPr>
            <a:r>
              <a:rPr lang="en-US" dirty="0"/>
              <a:t>Second level</a:t>
            </a:r>
          </a:p>
          <a:p>
            <a:pPr marL="685800" lvl="2" indent="-230188" defTabSz="228600">
              <a:lnSpc>
                <a:spcPct val="100000"/>
              </a:lnSpc>
              <a:spcAft>
                <a:spcPts val="600"/>
              </a:spcAft>
              <a:buFont typeface="Amazon Ember Display"/>
            </a:pPr>
            <a:r>
              <a:rPr lang="en-US" dirty="0"/>
              <a:t>Third level</a:t>
            </a:r>
          </a:p>
          <a:p>
            <a:pPr marL="914400" lvl="3" indent="-230188" defTabSz="228600">
              <a:lnSpc>
                <a:spcPct val="100000"/>
              </a:lnSpc>
              <a:spcAft>
                <a:spcPts val="600"/>
              </a:spcAft>
              <a:buFont typeface="Amazon Ember Display"/>
            </a:pPr>
            <a:r>
              <a:rPr lang="en-US" dirty="0"/>
              <a:t>Fourth level</a:t>
            </a:r>
          </a:p>
          <a:p>
            <a:pPr marL="1143000" lvl="4" indent="-230188" defTabSz="228600">
              <a:lnSpc>
                <a:spcPct val="100000"/>
              </a:lnSpc>
              <a:spcAft>
                <a:spcPts val="600"/>
              </a:spcAft>
              <a:buFont typeface="Amazon Ember Display"/>
            </a:pPr>
            <a:r>
              <a:rPr lang="en-US" dirty="0"/>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243599" y="6445721"/>
            <a:ext cx="366979" cy="219456"/>
          </a:xfrm>
          <a:prstGeom prst="rect">
            <a:avLst/>
          </a:prstGeom>
        </p:spPr>
      </p:pic>
      <p:pic>
        <p:nvPicPr>
          <p:cNvPr id="6" name="Copyright1">
            <a:extLst>
              <a:ext uri="{FF2B5EF4-FFF2-40B4-BE49-F238E27FC236}">
                <a16:creationId xmlns:a16="http://schemas.microsoft.com/office/drawing/2014/main" id="{C320C759-D5D0-424F-9E65-06BA1C6E83D1}"/>
              </a:ext>
              <a:ext uri="{C183D7F6-B498-43B3-948B-1728B52AA6E4}">
                <adec:decorative xmlns:adec="http://schemas.microsoft.com/office/drawing/2017/decorative" val="1"/>
              </a:ext>
            </a:extLst>
          </p:cNvPr>
          <p:cNvPicPr>
            <a:picLocks/>
          </p:cNvPicPr>
          <p:nvPr userDrawn="1"/>
        </p:nvPicPr>
        <p:blipFill>
          <a:blip r:embed="rId66">
            <a:extLst>
              <a:ext uri="{28A0092B-C50C-407E-A947-70E740481C1C}">
                <a14:useLocalDpi xmlns:a14="http://schemas.microsoft.com/office/drawing/2010/main" val="0"/>
              </a:ext>
            </a:extLst>
          </a:blip>
          <a:stretch>
            <a:fillRect/>
          </a:stretch>
        </p:blipFill>
        <p:spPr>
          <a:xfrm>
            <a:off x="3787140" y="6446520"/>
            <a:ext cx="4610100" cy="311150"/>
          </a:xfrm>
          <a:prstGeom prst="rect">
            <a:avLst/>
          </a:prstGeom>
        </p:spPr>
      </p:pic>
    </p:spTree>
    <p:extLst>
      <p:ext uri="{BB962C8B-B14F-4D97-AF65-F5344CB8AC3E}">
        <p14:creationId xmlns:p14="http://schemas.microsoft.com/office/powerpoint/2010/main" val="1510290783"/>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319"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8" r:id="rId19"/>
    <p:sldLayoutId id="2147484279" r:id="rId20"/>
    <p:sldLayoutId id="2147484280" r:id="rId21"/>
    <p:sldLayoutId id="2147484281" r:id="rId22"/>
    <p:sldLayoutId id="2147484282" r:id="rId23"/>
    <p:sldLayoutId id="2147484283" r:id="rId24"/>
    <p:sldLayoutId id="2147484284" r:id="rId25"/>
    <p:sldLayoutId id="2147484285" r:id="rId26"/>
    <p:sldLayoutId id="2147484286" r:id="rId27"/>
    <p:sldLayoutId id="2147484287" r:id="rId28"/>
    <p:sldLayoutId id="2147484288" r:id="rId29"/>
    <p:sldLayoutId id="2147484289" r:id="rId30"/>
    <p:sldLayoutId id="2147484290" r:id="rId31"/>
    <p:sldLayoutId id="2147484291" r:id="rId32"/>
    <p:sldLayoutId id="2147484292" r:id="rId33"/>
    <p:sldLayoutId id="2147484293" r:id="rId34"/>
    <p:sldLayoutId id="2147484294" r:id="rId35"/>
    <p:sldLayoutId id="2147484295" r:id="rId36"/>
    <p:sldLayoutId id="2147484296" r:id="rId37"/>
    <p:sldLayoutId id="2147484297" r:id="rId38"/>
    <p:sldLayoutId id="2147484298" r:id="rId39"/>
    <p:sldLayoutId id="2147484299" r:id="rId40"/>
    <p:sldLayoutId id="2147484300" r:id="rId41"/>
    <p:sldLayoutId id="2147484301" r:id="rId42"/>
    <p:sldLayoutId id="2147484302" r:id="rId43"/>
    <p:sldLayoutId id="2147484303" r:id="rId44"/>
    <p:sldLayoutId id="2147484304" r:id="rId45"/>
    <p:sldLayoutId id="2147484305" r:id="rId46"/>
    <p:sldLayoutId id="2147484306" r:id="rId47"/>
    <p:sldLayoutId id="2147484307" r:id="rId48"/>
    <p:sldLayoutId id="2147484308" r:id="rId49"/>
    <p:sldLayoutId id="2147484309" r:id="rId50"/>
    <p:sldLayoutId id="2147484310" r:id="rId51"/>
    <p:sldLayoutId id="2147484311" r:id="rId52"/>
    <p:sldLayoutId id="2147484312" r:id="rId53"/>
    <p:sldLayoutId id="2147484313" r:id="rId54"/>
    <p:sldLayoutId id="2147484314" r:id="rId55"/>
    <p:sldLayoutId id="2147484315" r:id="rId56"/>
    <p:sldLayoutId id="2147484316" r:id="rId57"/>
    <p:sldLayoutId id="2147483809" r:id="rId58"/>
    <p:sldLayoutId id="2147484317" r:id="rId59"/>
    <p:sldLayoutId id="2147484318" r:id="rId60"/>
    <p:sldLayoutId id="2147484320" r:id="rId61"/>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hyperlink" Target="http://bsse23058-load-balancer-1345674203.us-east-1.elb.amazonaws.com/"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hyperlink" Target="http://bsse23058-load-balancer-1345674203.us-east-1.elb.amazonaws.com/student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44.xml"/><Relationship Id="rId4" Type="http://schemas.openxmlformats.org/officeDocument/2006/relationships/image" Target="../media/image30.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C341766F-F436-46E9-A30C-DB5888AD0AA7}"/>
              </a:ext>
            </a:extLst>
          </p:cNvPr>
          <p:cNvSpPr>
            <a:spLocks noGrp="1"/>
          </p:cNvSpPr>
          <p:nvPr>
            <p:ph type="title" idx="1"/>
          </p:nvPr>
        </p:nvSpPr>
        <p:spPr/>
        <p:txBody>
          <a:bodyPr/>
          <a:lstStyle/>
          <a:p>
            <a:r>
              <a:rPr lang="en-US" dirty="0"/>
              <a:t>Academy Lab Projects – Showcase</a:t>
            </a:r>
          </a:p>
        </p:txBody>
      </p:sp>
      <p:sp>
        <p:nvSpPr>
          <p:cNvPr id="7" name="Text Placeholder 6">
            <a:extLst>
              <a:ext uri="{FF2B5EF4-FFF2-40B4-BE49-F238E27FC236}">
                <a16:creationId xmlns:a16="http://schemas.microsoft.com/office/drawing/2014/main" id="{2CAF2D29-2980-4EDA-AF88-15884666C42C}"/>
              </a:ext>
            </a:extLst>
          </p:cNvPr>
          <p:cNvSpPr>
            <a:spLocks noGrp="1"/>
          </p:cNvSpPr>
          <p:nvPr>
            <p:ph type="body" idx="2"/>
          </p:nvPr>
        </p:nvSpPr>
        <p:spPr/>
        <p:txBody>
          <a:bodyPr>
            <a:normAutofit/>
          </a:bodyPr>
          <a:lstStyle/>
          <a:p>
            <a:r>
              <a:rPr lang="en-US" dirty="0"/>
              <a:t>Zunaira Abdul Aziz</a:t>
            </a:r>
          </a:p>
          <a:p>
            <a:r>
              <a:rPr lang="en-US" dirty="0"/>
              <a:t>BSSE23058</a:t>
            </a:r>
          </a:p>
          <a:p>
            <a:endParaRPr lang="en-US" dirty="0"/>
          </a:p>
        </p:txBody>
      </p:sp>
    </p:spTree>
    <p:extLst>
      <p:ext uri="{BB962C8B-B14F-4D97-AF65-F5344CB8AC3E}">
        <p14:creationId xmlns:p14="http://schemas.microsoft.com/office/powerpoint/2010/main" val="12936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2</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1. Architecture Diagram</a:t>
            </a:r>
          </a:p>
        </p:txBody>
      </p:sp>
      <p:pic>
        <p:nvPicPr>
          <p:cNvPr id="6" name="Content Placeholder 5">
            <a:extLst>
              <a:ext uri="{FF2B5EF4-FFF2-40B4-BE49-F238E27FC236}">
                <a16:creationId xmlns:a16="http://schemas.microsoft.com/office/drawing/2014/main" id="{F6F48E8A-FF1E-4765-82F8-A9B6DC92042F}"/>
              </a:ext>
            </a:extLst>
          </p:cNvPr>
          <p:cNvPicPr>
            <a:picLocks noGrp="1" noChangeAspect="1"/>
          </p:cNvPicPr>
          <p:nvPr>
            <p:ph idx="2"/>
          </p:nvPr>
        </p:nvPicPr>
        <p:blipFill>
          <a:blip r:embed="rId3">
            <a:extLst>
              <a:ext uri="{28A0092B-C50C-407E-A947-70E740481C1C}">
                <a14:useLocalDpi xmlns:a14="http://schemas.microsoft.com/office/drawing/2010/main" val="0"/>
              </a:ext>
            </a:extLst>
          </a:blip>
          <a:stretch>
            <a:fillRect/>
          </a:stretch>
        </p:blipFill>
        <p:spPr>
          <a:xfrm>
            <a:off x="2822855" y="1096963"/>
            <a:ext cx="6551052" cy="5330825"/>
          </a:xfrm>
        </p:spPr>
      </p:pic>
    </p:spTree>
    <p:extLst>
      <p:ext uri="{BB962C8B-B14F-4D97-AF65-F5344CB8AC3E}">
        <p14:creationId xmlns:p14="http://schemas.microsoft.com/office/powerpoint/2010/main" val="2985972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3</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2. Pricing Summary</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normAutofit fontScale="77500" lnSpcReduction="20000"/>
          </a:bodyPr>
          <a:lstStyle/>
          <a:p>
            <a:pPr marL="0" indent="0">
              <a:buNone/>
            </a:pPr>
            <a:r>
              <a:rPr lang="en-US" sz="4100" dirty="0"/>
              <a:t>Services I used:</a:t>
            </a:r>
          </a:p>
          <a:p>
            <a:pPr>
              <a:buFont typeface="Arial" panose="020B0604020202020204" pitchFamily="34" charset="0"/>
              <a:buChar char="•"/>
            </a:pPr>
            <a:r>
              <a:rPr lang="en-US" dirty="0"/>
              <a:t>Amazon VPC</a:t>
            </a:r>
          </a:p>
          <a:p>
            <a:pPr>
              <a:buFont typeface="Arial" panose="020B0604020202020204" pitchFamily="34" charset="0"/>
              <a:buChar char="•"/>
            </a:pPr>
            <a:r>
              <a:rPr lang="en-US" dirty="0"/>
              <a:t>Public Subnets</a:t>
            </a:r>
          </a:p>
          <a:p>
            <a:pPr>
              <a:buFont typeface="Arial" panose="020B0604020202020204" pitchFamily="34" charset="0"/>
              <a:buChar char="•"/>
            </a:pPr>
            <a:r>
              <a:rPr lang="en-US" dirty="0"/>
              <a:t>Private Subnets</a:t>
            </a:r>
          </a:p>
          <a:p>
            <a:pPr>
              <a:buFont typeface="Arial" panose="020B0604020202020204" pitchFamily="34" charset="0"/>
              <a:buChar char="•"/>
            </a:pPr>
            <a:r>
              <a:rPr lang="en-US" dirty="0"/>
              <a:t>Internet Gateway (IGW)</a:t>
            </a:r>
          </a:p>
          <a:p>
            <a:pPr>
              <a:buFont typeface="Arial" panose="020B0604020202020204" pitchFamily="34" charset="0"/>
              <a:buChar char="•"/>
            </a:pPr>
            <a:r>
              <a:rPr lang="en-US" dirty="0"/>
              <a:t>NAT Gateway</a:t>
            </a:r>
          </a:p>
          <a:p>
            <a:pPr>
              <a:buFont typeface="Arial" panose="020B0604020202020204" pitchFamily="34" charset="0"/>
              <a:buChar char="•"/>
            </a:pPr>
            <a:r>
              <a:rPr lang="en-US" dirty="0"/>
              <a:t>Application Load Balancer (ALB)</a:t>
            </a:r>
          </a:p>
          <a:p>
            <a:pPr>
              <a:buFont typeface="Arial" panose="020B0604020202020204" pitchFamily="34" charset="0"/>
              <a:buChar char="•"/>
            </a:pPr>
            <a:r>
              <a:rPr lang="en-US" dirty="0"/>
              <a:t>Amazon EC2</a:t>
            </a:r>
          </a:p>
          <a:p>
            <a:pPr>
              <a:buFont typeface="Arial" panose="020B0604020202020204" pitchFamily="34" charset="0"/>
              <a:buChar char="•"/>
            </a:pPr>
            <a:r>
              <a:rPr lang="en-US" dirty="0"/>
              <a:t>Auto Scaling Group (ASG)</a:t>
            </a:r>
          </a:p>
          <a:p>
            <a:pPr>
              <a:buFont typeface="Arial" panose="020B0604020202020204" pitchFamily="34" charset="0"/>
              <a:buChar char="•"/>
            </a:pPr>
            <a:r>
              <a:rPr lang="en-US" dirty="0"/>
              <a:t>Amazon RDS (MySQL)</a:t>
            </a:r>
          </a:p>
          <a:p>
            <a:pPr>
              <a:buFont typeface="Arial" panose="020B0604020202020204" pitchFamily="34" charset="0"/>
              <a:buChar char="•"/>
            </a:pPr>
            <a:r>
              <a:rPr lang="en-US" dirty="0"/>
              <a:t>AWS Secrets Manager</a:t>
            </a:r>
          </a:p>
          <a:p>
            <a:pPr>
              <a:buFont typeface="Arial" panose="020B0604020202020204" pitchFamily="34" charset="0"/>
              <a:buChar char="•"/>
            </a:pPr>
            <a:r>
              <a:rPr lang="en-US" dirty="0"/>
              <a:t>Amazon EBS (gp3)</a:t>
            </a:r>
          </a:p>
          <a:p>
            <a:pPr lvl="1"/>
            <a:endParaRPr lang="en-US" dirty="0"/>
          </a:p>
        </p:txBody>
      </p:sp>
    </p:spTree>
    <p:extLst>
      <p:ext uri="{BB962C8B-B14F-4D97-AF65-F5344CB8AC3E}">
        <p14:creationId xmlns:p14="http://schemas.microsoft.com/office/powerpoint/2010/main" val="692930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2. Pricing Summary</a:t>
            </a:r>
          </a:p>
        </p:txBody>
      </p:sp>
      <p:pic>
        <p:nvPicPr>
          <p:cNvPr id="6" name="Content Placeholder 5">
            <a:extLst>
              <a:ext uri="{FF2B5EF4-FFF2-40B4-BE49-F238E27FC236}">
                <a16:creationId xmlns:a16="http://schemas.microsoft.com/office/drawing/2014/main" id="{72F10076-0F26-4B8D-8574-B625482DFA20}"/>
              </a:ext>
            </a:extLst>
          </p:cNvPr>
          <p:cNvPicPr>
            <a:picLocks noGrp="1" noChangeAspect="1"/>
          </p:cNvPicPr>
          <p:nvPr>
            <p:ph idx="2"/>
          </p:nvPr>
        </p:nvPicPr>
        <p:blipFill>
          <a:blip r:embed="rId3"/>
          <a:stretch>
            <a:fillRect/>
          </a:stretch>
        </p:blipFill>
        <p:spPr>
          <a:xfrm>
            <a:off x="27709" y="1648414"/>
            <a:ext cx="11466513" cy="2625038"/>
          </a:xfrm>
        </p:spPr>
      </p:pic>
    </p:spTree>
    <p:extLst>
      <p:ext uri="{BB962C8B-B14F-4D97-AF65-F5344CB8AC3E}">
        <p14:creationId xmlns:p14="http://schemas.microsoft.com/office/powerpoint/2010/main" val="4273933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30FF0B-4AE6-4E7D-B384-D324F79B7357}"/>
              </a:ext>
            </a:extLst>
          </p:cNvPr>
          <p:cNvSpPr>
            <a:spLocks noGrp="1"/>
          </p:cNvSpPr>
          <p:nvPr>
            <p:ph type="sldNum" idx="97"/>
          </p:nvPr>
        </p:nvSpPr>
        <p:spPr/>
        <p:txBody>
          <a:bodyPr/>
          <a:lstStyle/>
          <a:p>
            <a:fld id="{4037B1B0-0345-4E15-985A-6BECCDBE474F}" type="slidenum">
              <a:rPr lang="en-US" smtClean="0"/>
              <a:pPr/>
              <a:t>5</a:t>
            </a:fld>
            <a:endParaRPr lang="en-US" dirty="0"/>
          </a:p>
        </p:txBody>
      </p:sp>
      <p:pic>
        <p:nvPicPr>
          <p:cNvPr id="6" name="Picture 5">
            <a:extLst>
              <a:ext uri="{FF2B5EF4-FFF2-40B4-BE49-F238E27FC236}">
                <a16:creationId xmlns:a16="http://schemas.microsoft.com/office/drawing/2014/main" id="{6C403FFD-BB15-49CD-85DA-3D846BEF3E60}"/>
              </a:ext>
            </a:extLst>
          </p:cNvPr>
          <p:cNvPicPr>
            <a:picLocks noChangeAspect="1"/>
          </p:cNvPicPr>
          <p:nvPr/>
        </p:nvPicPr>
        <p:blipFill>
          <a:blip r:embed="rId2"/>
          <a:stretch>
            <a:fillRect/>
          </a:stretch>
        </p:blipFill>
        <p:spPr>
          <a:xfrm>
            <a:off x="1905831" y="103909"/>
            <a:ext cx="8027894" cy="6858000"/>
          </a:xfrm>
          <a:prstGeom prst="rect">
            <a:avLst/>
          </a:prstGeom>
        </p:spPr>
      </p:pic>
    </p:spTree>
    <p:extLst>
      <p:ext uri="{BB962C8B-B14F-4D97-AF65-F5344CB8AC3E}">
        <p14:creationId xmlns:p14="http://schemas.microsoft.com/office/powerpoint/2010/main" val="101247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33ECD-79EF-4653-BF07-7EC94D617C51}"/>
              </a:ext>
            </a:extLst>
          </p:cNvPr>
          <p:cNvSpPr>
            <a:spLocks noGrp="1"/>
          </p:cNvSpPr>
          <p:nvPr>
            <p:ph type="sldNum" idx="97"/>
          </p:nvPr>
        </p:nvSpPr>
        <p:spPr/>
        <p:txBody>
          <a:bodyPr/>
          <a:lstStyle/>
          <a:p>
            <a:fld id="{4037B1B0-0345-4E15-985A-6BECCDBE474F}" type="slidenum">
              <a:rPr lang="en-US" smtClean="0"/>
              <a:pPr/>
              <a:t>6</a:t>
            </a:fld>
            <a:endParaRPr lang="en-US" dirty="0"/>
          </a:p>
        </p:txBody>
      </p:sp>
      <p:pic>
        <p:nvPicPr>
          <p:cNvPr id="6" name="Picture 5">
            <a:extLst>
              <a:ext uri="{FF2B5EF4-FFF2-40B4-BE49-F238E27FC236}">
                <a16:creationId xmlns:a16="http://schemas.microsoft.com/office/drawing/2014/main" id="{FE94AE65-E6DD-4650-94B0-9D669CC68301}"/>
              </a:ext>
            </a:extLst>
          </p:cNvPr>
          <p:cNvPicPr>
            <a:picLocks noChangeAspect="1"/>
          </p:cNvPicPr>
          <p:nvPr/>
        </p:nvPicPr>
        <p:blipFill>
          <a:blip r:embed="rId2"/>
          <a:stretch>
            <a:fillRect/>
          </a:stretch>
        </p:blipFill>
        <p:spPr>
          <a:xfrm>
            <a:off x="1042282" y="1295102"/>
            <a:ext cx="10107436" cy="4267796"/>
          </a:xfrm>
          <a:prstGeom prst="rect">
            <a:avLst/>
          </a:prstGeom>
        </p:spPr>
      </p:pic>
    </p:spTree>
    <p:extLst>
      <p:ext uri="{BB962C8B-B14F-4D97-AF65-F5344CB8AC3E}">
        <p14:creationId xmlns:p14="http://schemas.microsoft.com/office/powerpoint/2010/main" val="2603592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7</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3. Capstone ELB Link + Screenshot of Your Website</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p>
            <a:r>
              <a:rPr lang="en-PK"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http://bsse23058-load-balancer-1345674203.us-east-1.elb.amazonaws.com/</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r>
              <a:rPr lang="en-PK" sz="1800" dirty="0">
                <a:effectLst/>
                <a:latin typeface="Calibri" panose="020F0502020204030204" pitchFamily="34" charset="0"/>
                <a:ea typeface="Calibri" panose="020F0502020204030204" pitchFamily="34" charset="0"/>
                <a:cs typeface="Times New Roman" panose="02020603050405020304" pitchFamily="18" charset="0"/>
                <a:hlinkClick r:id="rId4"/>
              </a:rPr>
              <a:t>http://bsse23058-load-balancer-1345674203.us-east-1.elb.amazonaws.com/students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35248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8</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Screenshot of Your Website</a:t>
            </a:r>
          </a:p>
        </p:txBody>
      </p:sp>
      <p:sp>
        <p:nvSpPr>
          <p:cNvPr id="5" name="TextBox 4">
            <a:extLst>
              <a:ext uri="{FF2B5EF4-FFF2-40B4-BE49-F238E27FC236}">
                <a16:creationId xmlns:a16="http://schemas.microsoft.com/office/drawing/2014/main" id="{CF7722A6-C362-4C48-8475-7EA414A57BF8}"/>
              </a:ext>
            </a:extLst>
          </p:cNvPr>
          <p:cNvSpPr txBox="1"/>
          <p:nvPr/>
        </p:nvSpPr>
        <p:spPr>
          <a:xfrm>
            <a:off x="2214970" y="3244334"/>
            <a:ext cx="7762061" cy="369332"/>
          </a:xfrm>
          <a:prstGeom prst="rect">
            <a:avLst/>
          </a:prstGeom>
          <a:noFill/>
        </p:spPr>
        <p:txBody>
          <a:bodyPr wrap="none" rtlCol="0">
            <a:spAutoFit/>
          </a:bodyPr>
          <a:lstStyle/>
          <a:p>
            <a:pPr algn="ctr"/>
            <a:r>
              <a:rPr lang="en-US" dirty="0"/>
              <a:t>&lt;Put your diagram here. Refer to the slide notes for more information.&gt;</a:t>
            </a:r>
          </a:p>
        </p:txBody>
      </p:sp>
      <p:pic>
        <p:nvPicPr>
          <p:cNvPr id="6" name="Picture 5">
            <a:extLst>
              <a:ext uri="{FF2B5EF4-FFF2-40B4-BE49-F238E27FC236}">
                <a16:creationId xmlns:a16="http://schemas.microsoft.com/office/drawing/2014/main" id="{76BD201D-0AF7-4C6D-936C-A8B8584FEA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4339"/>
            <a:ext cx="12192000" cy="6569322"/>
          </a:xfrm>
          <a:prstGeom prst="rect">
            <a:avLst/>
          </a:prstGeom>
        </p:spPr>
      </p:pic>
    </p:spTree>
    <p:extLst>
      <p:ext uri="{BB962C8B-B14F-4D97-AF65-F5344CB8AC3E}">
        <p14:creationId xmlns:p14="http://schemas.microsoft.com/office/powerpoint/2010/main" val="303604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9</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Architecture diagram of the solution: Example</a:t>
            </a:r>
          </a:p>
        </p:txBody>
      </p:sp>
      <p:pic>
        <p:nvPicPr>
          <p:cNvPr id="7" name="Picture 6" descr="An example of service arch diagram showing Git to S3 Webhooks.">
            <a:extLst>
              <a:ext uri="{FF2B5EF4-FFF2-40B4-BE49-F238E27FC236}">
                <a16:creationId xmlns:a16="http://schemas.microsoft.com/office/drawing/2014/main" id="{B085F297-54E6-42CF-89E3-3B55C3F8B0F0}"/>
              </a:ext>
            </a:extLst>
          </p:cNvPr>
          <p:cNvPicPr>
            <a:picLocks noChangeAspect="1"/>
          </p:cNvPicPr>
          <p:nvPr/>
        </p:nvPicPr>
        <p:blipFill>
          <a:blip r:embed="rId3"/>
          <a:stretch>
            <a:fillRect/>
          </a:stretch>
        </p:blipFill>
        <p:spPr>
          <a:xfrm>
            <a:off x="413545" y="1047417"/>
            <a:ext cx="11364911" cy="4763165"/>
          </a:xfrm>
          <a:prstGeom prst="rect">
            <a:avLst/>
          </a:prstGeom>
        </p:spPr>
      </p:pic>
      <p:pic>
        <p:nvPicPr>
          <p:cNvPr id="5" name="Picture 4">
            <a:extLst>
              <a:ext uri="{FF2B5EF4-FFF2-40B4-BE49-F238E27FC236}">
                <a16:creationId xmlns:a16="http://schemas.microsoft.com/office/drawing/2014/main" id="{D34B2D46-DE83-4698-B0C3-897A33962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3399"/>
            <a:ext cx="12192000" cy="6531202"/>
          </a:xfrm>
          <a:prstGeom prst="rect">
            <a:avLst/>
          </a:prstGeom>
        </p:spPr>
      </p:pic>
    </p:spTree>
    <p:extLst>
      <p:ext uri="{BB962C8B-B14F-4D97-AF65-F5344CB8AC3E}">
        <p14:creationId xmlns:p14="http://schemas.microsoft.com/office/powerpoint/2010/main" val="1133023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10</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4. Load Testing Results</a:t>
            </a:r>
          </a:p>
        </p:txBody>
      </p:sp>
      <p:sp>
        <p:nvSpPr>
          <p:cNvPr id="6" name="Content Placeholder 5">
            <a:extLst>
              <a:ext uri="{FF2B5EF4-FFF2-40B4-BE49-F238E27FC236}">
                <a16:creationId xmlns:a16="http://schemas.microsoft.com/office/drawing/2014/main" id="{AE088CC3-5601-4655-8790-CCAF4B53D173}"/>
              </a:ext>
            </a:extLst>
          </p:cNvPr>
          <p:cNvSpPr>
            <a:spLocks noGrp="1"/>
          </p:cNvSpPr>
          <p:nvPr>
            <p:ph idx="2"/>
          </p:nvPr>
        </p:nvSpPr>
        <p:spPr/>
        <p:txBody>
          <a:bodyPr/>
          <a:lstStyle/>
          <a:p>
            <a:r>
              <a:rPr lang="en-US" sz="2800" b="1" kern="1200" dirty="0">
                <a:solidFill>
                  <a:srgbClr val="000000"/>
                </a:solidFill>
                <a:effectLst/>
                <a:latin typeface="Calibri" panose="020F0502020204030204" pitchFamily="34" charset="0"/>
                <a:ea typeface="+mn-ea"/>
                <a:cs typeface="+mn-cs"/>
              </a:rPr>
              <a:t>November 9th: Setting Up the System</a:t>
            </a:r>
            <a:br>
              <a:rPr lang="en-PK" dirty="0">
                <a:effectLst/>
              </a:rPr>
            </a:br>
            <a:endParaRPr lang="en-US" dirty="0"/>
          </a:p>
        </p:txBody>
      </p:sp>
      <p:graphicFrame>
        <p:nvGraphicFramePr>
          <p:cNvPr id="5" name="Content Placeholder 3">
            <a:extLst>
              <a:ext uri="{FF2B5EF4-FFF2-40B4-BE49-F238E27FC236}">
                <a16:creationId xmlns:a16="http://schemas.microsoft.com/office/drawing/2014/main" id="{FB953FBD-E4B4-46E3-B0AC-02CDB14725A8}"/>
              </a:ext>
            </a:extLst>
          </p:cNvPr>
          <p:cNvGraphicFramePr>
            <a:graphicFrameLocks/>
          </p:cNvGraphicFramePr>
          <p:nvPr/>
        </p:nvGraphicFramePr>
        <p:xfrm>
          <a:off x="838200" y="2949734"/>
          <a:ext cx="10515600" cy="2103120"/>
        </p:xfrm>
        <a:graphic>
          <a:graphicData uri="http://schemas.openxmlformats.org/drawingml/2006/table">
            <a:tbl>
              <a:tblPr/>
              <a:tblGrid>
                <a:gridCol w="2628900">
                  <a:extLst>
                    <a:ext uri="{9D8B030D-6E8A-4147-A177-3AD203B41FA5}">
                      <a16:colId xmlns:a16="http://schemas.microsoft.com/office/drawing/2014/main" val="3012656104"/>
                    </a:ext>
                  </a:extLst>
                </a:gridCol>
                <a:gridCol w="2628900">
                  <a:extLst>
                    <a:ext uri="{9D8B030D-6E8A-4147-A177-3AD203B41FA5}">
                      <a16:colId xmlns:a16="http://schemas.microsoft.com/office/drawing/2014/main" val="2152206935"/>
                    </a:ext>
                  </a:extLst>
                </a:gridCol>
                <a:gridCol w="2628900">
                  <a:extLst>
                    <a:ext uri="{9D8B030D-6E8A-4147-A177-3AD203B41FA5}">
                      <a16:colId xmlns:a16="http://schemas.microsoft.com/office/drawing/2014/main" val="1481095009"/>
                    </a:ext>
                  </a:extLst>
                </a:gridCol>
                <a:gridCol w="2628900">
                  <a:extLst>
                    <a:ext uri="{9D8B030D-6E8A-4147-A177-3AD203B41FA5}">
                      <a16:colId xmlns:a16="http://schemas.microsoft.com/office/drawing/2014/main" val="145519426"/>
                    </a:ext>
                  </a:extLst>
                </a:gridCol>
              </a:tblGrid>
              <a:tr h="0">
                <a:tc>
                  <a:txBody>
                    <a:bodyPr/>
                    <a:lstStyle/>
                    <a:p>
                      <a:pPr rtl="0"/>
                      <a:r>
                        <a:rPr lang="en-US" b="1">
                          <a:solidFill>
                            <a:srgbClr val="1B1C1D"/>
                          </a:solidFill>
                          <a:effectLst/>
                          <a:latin typeface="Google Sans Text"/>
                        </a:rPr>
                        <a:t>Parameter</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Min</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Desired</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Max</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28528050"/>
                  </a:ext>
                </a:extLst>
              </a:tr>
              <a:tr h="0">
                <a:tc>
                  <a:txBody>
                    <a:bodyPr/>
                    <a:lstStyle/>
                    <a:p>
                      <a:pPr rtl="0"/>
                      <a:r>
                        <a:rPr lang="en-US" b="1">
                          <a:solidFill>
                            <a:srgbClr val="1B1C1D"/>
                          </a:solidFill>
                          <a:effectLst/>
                          <a:latin typeface="Google Sans Text"/>
                        </a:rPr>
                        <a:t>Capacity</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PK">
                          <a:solidFill>
                            <a:srgbClr val="1B1C1D"/>
                          </a:solidFill>
                          <a:effectLst/>
                          <a:latin typeface="Google Sans Text"/>
                        </a:rPr>
                        <a:t>2</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PK">
                          <a:solidFill>
                            <a:srgbClr val="1B1C1D"/>
                          </a:solidFill>
                          <a:effectLst/>
                          <a:latin typeface="Google Sans Text"/>
                        </a:rPr>
                        <a:t>2</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3 (Later changed to </a:t>
                      </a:r>
                      <a:r>
                        <a:rPr lang="en-US" b="1">
                          <a:solidFill>
                            <a:srgbClr val="1B1C1D"/>
                          </a:solidFill>
                          <a:effectLst/>
                          <a:latin typeface="Google Sans Text"/>
                        </a:rPr>
                        <a:t>6</a:t>
                      </a:r>
                      <a:r>
                        <a:rPr lang="en-US">
                          <a:solidFill>
                            <a:srgbClr val="1B1C1D"/>
                          </a:solidFill>
                          <a:effectLst/>
                          <a:latin typeface="Google Sans Text"/>
                        </a:rPr>
                        <a:t>)</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49389737"/>
                  </a:ext>
                </a:extLst>
              </a:tr>
              <a:tr h="0">
                <a:tc>
                  <a:txBody>
                    <a:bodyPr/>
                    <a:lstStyle/>
                    <a:p>
                      <a:pPr rtl="0"/>
                      <a:r>
                        <a:rPr lang="en-US" b="1">
                          <a:solidFill>
                            <a:srgbClr val="1B1C1D"/>
                          </a:solidFill>
                          <a:effectLst/>
                          <a:latin typeface="Google Sans Text"/>
                        </a:rPr>
                        <a:t>Initial State</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dirty="0">
                          <a:solidFill>
                            <a:srgbClr val="1B1C1D"/>
                          </a:solidFill>
                          <a:effectLst/>
                          <a:latin typeface="Google Sans Text"/>
                        </a:rPr>
                        <a:t>2 instances running. System verified </a:t>
                      </a:r>
                      <a:r>
                        <a:rPr lang="en-US" b="1" dirty="0">
                          <a:solidFill>
                            <a:srgbClr val="1B1C1D"/>
                          </a:solidFill>
                          <a:effectLst/>
                          <a:latin typeface="Google Sans Text"/>
                        </a:rPr>
                        <a:t>Auto-Healing</a:t>
                      </a:r>
                      <a:r>
                        <a:rPr lang="en-US" dirty="0">
                          <a:solidFill>
                            <a:srgbClr val="1B1C1D"/>
                          </a:solidFill>
                          <a:effectLst/>
                          <a:latin typeface="Google Sans Text"/>
                        </a:rPr>
                        <a:t> (replacing failed instances).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PK">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PK"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93967570"/>
                  </a:ext>
                </a:extLst>
              </a:tr>
            </a:tbl>
          </a:graphicData>
        </a:graphic>
      </p:graphicFrame>
    </p:spTree>
    <p:extLst>
      <p:ext uri="{BB962C8B-B14F-4D97-AF65-F5344CB8AC3E}">
        <p14:creationId xmlns:p14="http://schemas.microsoft.com/office/powerpoint/2010/main" val="1580840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DEF5C3-D4CB-4010-9CBB-076C8FFE105B}"/>
              </a:ext>
            </a:extLst>
          </p:cNvPr>
          <p:cNvSpPr>
            <a:spLocks noGrp="1"/>
          </p:cNvSpPr>
          <p:nvPr>
            <p:ph type="sldNum" idx="97"/>
          </p:nvPr>
        </p:nvSpPr>
        <p:spPr/>
        <p:txBody>
          <a:bodyPr/>
          <a:lstStyle/>
          <a:p>
            <a:fld id="{4037B1B0-0345-4E15-985A-6BECCDBE474F}" type="slidenum">
              <a:rPr lang="en-US" smtClean="0"/>
              <a:pPr/>
              <a:t>11</a:t>
            </a:fld>
            <a:endParaRPr lang="en-US" dirty="0"/>
          </a:p>
        </p:txBody>
      </p:sp>
      <p:sp>
        <p:nvSpPr>
          <p:cNvPr id="3" name="Title 2">
            <a:extLst>
              <a:ext uri="{FF2B5EF4-FFF2-40B4-BE49-F238E27FC236}">
                <a16:creationId xmlns:a16="http://schemas.microsoft.com/office/drawing/2014/main" id="{2332EBB8-EB6E-4AE8-8BDE-142F9837931A}"/>
              </a:ext>
            </a:extLst>
          </p:cNvPr>
          <p:cNvSpPr>
            <a:spLocks noGrp="1"/>
          </p:cNvSpPr>
          <p:nvPr>
            <p:ph type="title" idx="1"/>
          </p:nvPr>
        </p:nvSpPr>
        <p:spPr/>
        <p:txBody>
          <a:bodyPr/>
          <a:lstStyle/>
          <a:p>
            <a:endParaRPr lang="en-PK" dirty="0"/>
          </a:p>
        </p:txBody>
      </p:sp>
      <p:sp>
        <p:nvSpPr>
          <p:cNvPr id="4" name="Text Placeholder 3">
            <a:extLst>
              <a:ext uri="{FF2B5EF4-FFF2-40B4-BE49-F238E27FC236}">
                <a16:creationId xmlns:a16="http://schemas.microsoft.com/office/drawing/2014/main" id="{94347662-3B20-4312-B144-44BB09EAF655}"/>
              </a:ext>
            </a:extLst>
          </p:cNvPr>
          <p:cNvSpPr>
            <a:spLocks noGrp="1"/>
          </p:cNvSpPr>
          <p:nvPr>
            <p:ph type="body" idx="2"/>
          </p:nvPr>
        </p:nvSpPr>
        <p:spPr/>
        <p:txBody>
          <a:bodyPr/>
          <a:lstStyle/>
          <a:p>
            <a:endParaRPr lang="en-PK" dirty="0"/>
          </a:p>
        </p:txBody>
      </p:sp>
      <p:sp>
        <p:nvSpPr>
          <p:cNvPr id="5" name="Text Placeholder 4">
            <a:extLst>
              <a:ext uri="{FF2B5EF4-FFF2-40B4-BE49-F238E27FC236}">
                <a16:creationId xmlns:a16="http://schemas.microsoft.com/office/drawing/2014/main" id="{D925C96B-3D86-4AC5-8B52-F76D656A9693}"/>
              </a:ext>
            </a:extLst>
          </p:cNvPr>
          <p:cNvSpPr>
            <a:spLocks noGrp="1"/>
          </p:cNvSpPr>
          <p:nvPr>
            <p:ph type="body" idx="3"/>
          </p:nvPr>
        </p:nvSpPr>
        <p:spPr/>
        <p:txBody>
          <a:bodyPr/>
          <a:lstStyle/>
          <a:p>
            <a:endParaRPr lang="en-PK"/>
          </a:p>
        </p:txBody>
      </p:sp>
      <p:pic>
        <p:nvPicPr>
          <p:cNvPr id="7" name="Picture 6">
            <a:extLst>
              <a:ext uri="{FF2B5EF4-FFF2-40B4-BE49-F238E27FC236}">
                <a16:creationId xmlns:a16="http://schemas.microsoft.com/office/drawing/2014/main" id="{ED86B857-DD51-4D65-A50F-FD8031FB8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7046"/>
            <a:ext cx="12192000" cy="6543908"/>
          </a:xfrm>
          <a:prstGeom prst="rect">
            <a:avLst/>
          </a:prstGeom>
        </p:spPr>
      </p:pic>
    </p:spTree>
    <p:extLst>
      <p:ext uri="{BB962C8B-B14F-4D97-AF65-F5344CB8AC3E}">
        <p14:creationId xmlns:p14="http://schemas.microsoft.com/office/powerpoint/2010/main" val="3337031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dirty="0"/>
              <a:t>Thank you</a:t>
            </a:r>
          </a:p>
        </p:txBody>
      </p:sp>
      <p:pic>
        <p:nvPicPr>
          <p:cNvPr id="4" name="Picture 3">
            <a:extLst>
              <a:ext uri="{FF2B5EF4-FFF2-40B4-BE49-F238E27FC236}">
                <a16:creationId xmlns:a16="http://schemas.microsoft.com/office/drawing/2014/main" id="{B97CDB7D-4FEA-4C9F-B4AB-4AEF380E34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2000" cy="6857999"/>
          </a:xfrm>
          <a:prstGeom prst="rect">
            <a:avLst/>
          </a:prstGeom>
        </p:spPr>
      </p:pic>
    </p:spTree>
    <p:extLst>
      <p:ext uri="{BB962C8B-B14F-4D97-AF65-F5344CB8AC3E}">
        <p14:creationId xmlns:p14="http://schemas.microsoft.com/office/powerpoint/2010/main" val="1225453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13</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4. Load Testing Results</a:t>
            </a:r>
          </a:p>
        </p:txBody>
      </p:sp>
      <p:sp>
        <p:nvSpPr>
          <p:cNvPr id="6" name="Content Placeholder 5">
            <a:extLst>
              <a:ext uri="{FF2B5EF4-FFF2-40B4-BE49-F238E27FC236}">
                <a16:creationId xmlns:a16="http://schemas.microsoft.com/office/drawing/2014/main" id="{AE088CC3-5601-4655-8790-CCAF4B53D173}"/>
              </a:ext>
            </a:extLst>
          </p:cNvPr>
          <p:cNvSpPr>
            <a:spLocks noGrp="1"/>
          </p:cNvSpPr>
          <p:nvPr>
            <p:ph idx="2"/>
          </p:nvPr>
        </p:nvSpPr>
        <p:spPr/>
        <p:txBody>
          <a:bodyPr/>
          <a:lstStyle/>
          <a:p>
            <a:r>
              <a:rPr lang="en-US" sz="2800" b="1" kern="1200" dirty="0">
                <a:solidFill>
                  <a:srgbClr val="000000"/>
                </a:solidFill>
                <a:effectLst/>
                <a:latin typeface="Calibri" panose="020F0502020204030204" pitchFamily="34" charset="0"/>
                <a:ea typeface="+mn-ea"/>
                <a:cs typeface="+mn-cs"/>
              </a:rPr>
              <a:t>November 19th: Testing and Scaling Events</a:t>
            </a:r>
            <a:br>
              <a:rPr lang="en-PK" dirty="0">
                <a:effectLst/>
              </a:rPr>
            </a:br>
            <a:endParaRPr lang="en-US" dirty="0"/>
          </a:p>
        </p:txBody>
      </p:sp>
      <p:graphicFrame>
        <p:nvGraphicFramePr>
          <p:cNvPr id="7" name="Content Placeholder 3">
            <a:extLst>
              <a:ext uri="{FF2B5EF4-FFF2-40B4-BE49-F238E27FC236}">
                <a16:creationId xmlns:a16="http://schemas.microsoft.com/office/drawing/2014/main" id="{FC4B27C5-C762-4B7B-9FDA-E478667F252B}"/>
              </a:ext>
            </a:extLst>
          </p:cNvPr>
          <p:cNvGraphicFramePr>
            <a:graphicFrameLocks/>
          </p:cNvGraphicFramePr>
          <p:nvPr/>
        </p:nvGraphicFramePr>
        <p:xfrm>
          <a:off x="838200" y="2248694"/>
          <a:ext cx="10515600" cy="3505200"/>
        </p:xfrm>
        <a:graphic>
          <a:graphicData uri="http://schemas.openxmlformats.org/drawingml/2006/table">
            <a:tbl>
              <a:tblPr/>
              <a:tblGrid>
                <a:gridCol w="2103120">
                  <a:extLst>
                    <a:ext uri="{9D8B030D-6E8A-4147-A177-3AD203B41FA5}">
                      <a16:colId xmlns:a16="http://schemas.microsoft.com/office/drawing/2014/main" val="4057431616"/>
                    </a:ext>
                  </a:extLst>
                </a:gridCol>
                <a:gridCol w="2103120">
                  <a:extLst>
                    <a:ext uri="{9D8B030D-6E8A-4147-A177-3AD203B41FA5}">
                      <a16:colId xmlns:a16="http://schemas.microsoft.com/office/drawing/2014/main" val="1223186571"/>
                    </a:ext>
                  </a:extLst>
                </a:gridCol>
                <a:gridCol w="2103120">
                  <a:extLst>
                    <a:ext uri="{9D8B030D-6E8A-4147-A177-3AD203B41FA5}">
                      <a16:colId xmlns:a16="http://schemas.microsoft.com/office/drawing/2014/main" val="1605022847"/>
                    </a:ext>
                  </a:extLst>
                </a:gridCol>
                <a:gridCol w="2103120">
                  <a:extLst>
                    <a:ext uri="{9D8B030D-6E8A-4147-A177-3AD203B41FA5}">
                      <a16:colId xmlns:a16="http://schemas.microsoft.com/office/drawing/2014/main" val="1807163750"/>
                    </a:ext>
                  </a:extLst>
                </a:gridCol>
                <a:gridCol w="2103120">
                  <a:extLst>
                    <a:ext uri="{9D8B030D-6E8A-4147-A177-3AD203B41FA5}">
                      <a16:colId xmlns:a16="http://schemas.microsoft.com/office/drawing/2014/main" val="3071742472"/>
                    </a:ext>
                  </a:extLst>
                </a:gridCol>
              </a:tblGrid>
              <a:tr h="0">
                <a:tc>
                  <a:txBody>
                    <a:bodyPr/>
                    <a:lstStyle/>
                    <a:p>
                      <a:pPr rtl="0"/>
                      <a:r>
                        <a:rPr lang="en-US" b="1" dirty="0">
                          <a:solidFill>
                            <a:srgbClr val="1B1C1D"/>
                          </a:solidFill>
                          <a:effectLst/>
                          <a:latin typeface="Google Sans Text"/>
                        </a:rPr>
                        <a:t>Event</a:t>
                      </a:r>
                      <a:endParaRPr lang="en-US" dirty="0">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Load (RPS)</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Resulting Latency</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Scaling Action</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 Instances</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76394792"/>
                  </a:ext>
                </a:extLst>
              </a:tr>
              <a:tr h="0">
                <a:tc>
                  <a:txBody>
                    <a:bodyPr/>
                    <a:lstStyle/>
                    <a:p>
                      <a:pPr rtl="0"/>
                      <a:r>
                        <a:rPr lang="en-US" b="1">
                          <a:solidFill>
                            <a:srgbClr val="1B1C1D"/>
                          </a:solidFill>
                          <a:effectLst/>
                          <a:latin typeface="Google Sans Text"/>
                        </a:rPr>
                        <a:t>Test 1</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PK" b="1">
                          <a:solidFill>
                            <a:srgbClr val="1B1C1D"/>
                          </a:solidFill>
                          <a:effectLst/>
                          <a:latin typeface="Google Sans Text"/>
                        </a:rPr>
                        <a:t>1,000</a:t>
                      </a:r>
                      <a:endParaRPr lang="en-PK">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2.2 ms</a:t>
                      </a:r>
                      <a:r>
                        <a:rPr lang="en-US">
                          <a:solidFill>
                            <a:srgbClr val="1B1C1D"/>
                          </a:solidFill>
                          <a:effectLst/>
                          <a:latin typeface="Google Sans Text"/>
                        </a:rPr>
                        <a:t> (Excellent)</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No Scale</a:t>
                      </a:r>
                      <a:r>
                        <a:rPr lang="en-US">
                          <a:solidFill>
                            <a:srgbClr val="1B1C1D"/>
                          </a:solidFill>
                          <a:effectLst/>
                          <a:latin typeface="Google Sans Text"/>
                        </a:rPr>
                        <a:t> (Load too low)</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PK">
                          <a:solidFill>
                            <a:srgbClr val="1B1C1D"/>
                          </a:solidFill>
                          <a:effectLst/>
                          <a:latin typeface="Google Sans Text"/>
                        </a:rPr>
                        <a:t>2</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14698339"/>
                  </a:ext>
                </a:extLst>
              </a:tr>
              <a:tr h="0">
                <a:tc>
                  <a:txBody>
                    <a:bodyPr/>
                    <a:lstStyle/>
                    <a:p>
                      <a:pPr rtl="0"/>
                      <a:r>
                        <a:rPr lang="en-US" b="1">
                          <a:solidFill>
                            <a:srgbClr val="1B1C1D"/>
                          </a:solidFill>
                          <a:effectLst/>
                          <a:latin typeface="Google Sans Text"/>
                        </a:rPr>
                        <a:t>Manual Scale</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N/A</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dirty="0">
                          <a:solidFill>
                            <a:srgbClr val="1B1C1D"/>
                          </a:solidFill>
                          <a:effectLst/>
                          <a:latin typeface="Google Sans Text"/>
                        </a:rPr>
                        <a:t>N/A</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User forced Desired Capacity from 2 to </a:t>
                      </a:r>
                      <a:r>
                        <a:rPr lang="en-US" b="1">
                          <a:solidFill>
                            <a:srgbClr val="1B1C1D"/>
                          </a:solidFill>
                          <a:effectLst/>
                          <a:latin typeface="Google Sans Text"/>
                        </a:rPr>
                        <a:t>4</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PK">
                          <a:solidFill>
                            <a:srgbClr val="1B1C1D"/>
                          </a:solidFill>
                          <a:effectLst/>
                          <a:latin typeface="Google Sans Text"/>
                        </a:rPr>
                        <a:t>4</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22155918"/>
                  </a:ext>
                </a:extLst>
              </a:tr>
              <a:tr h="0">
                <a:tc>
                  <a:txBody>
                    <a:bodyPr/>
                    <a:lstStyle/>
                    <a:p>
                      <a:pPr rtl="0"/>
                      <a:r>
                        <a:rPr lang="en-US" b="1">
                          <a:solidFill>
                            <a:srgbClr val="1B1C1D"/>
                          </a:solidFill>
                          <a:effectLst/>
                          <a:latin typeface="Google Sans Text"/>
                        </a:rPr>
                        <a:t>Test 2</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PK" b="1">
                          <a:solidFill>
                            <a:srgbClr val="1B1C1D"/>
                          </a:solidFill>
                          <a:effectLst/>
                          <a:latin typeface="Google Sans Text"/>
                        </a:rPr>
                        <a:t>4,000</a:t>
                      </a:r>
                      <a:endParaRPr lang="en-PK">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dirty="0">
                          <a:solidFill>
                            <a:srgbClr val="1B1C1D"/>
                          </a:solidFill>
                          <a:effectLst/>
                          <a:latin typeface="Google Sans Text"/>
                        </a:rPr>
                        <a:t>479 </a:t>
                      </a:r>
                      <a:r>
                        <a:rPr lang="en-US" b="1" dirty="0" err="1">
                          <a:solidFill>
                            <a:srgbClr val="1B1C1D"/>
                          </a:solidFill>
                          <a:effectLst/>
                          <a:latin typeface="Google Sans Text"/>
                        </a:rPr>
                        <a:t>ms</a:t>
                      </a:r>
                      <a:r>
                        <a:rPr lang="en-US" dirty="0">
                          <a:solidFill>
                            <a:srgbClr val="1B1C1D"/>
                          </a:solidFill>
                          <a:effectLst/>
                          <a:latin typeface="Google Sans Text"/>
                        </a:rPr>
                        <a:t> (Severe Degradation)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Auto Scaling Triggered</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4 (Bottlenecked)</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18824846"/>
                  </a:ext>
                </a:extLst>
              </a:tr>
              <a:tr h="0">
                <a:tc>
                  <a:txBody>
                    <a:bodyPr/>
                    <a:lstStyle/>
                    <a:p>
                      <a:pPr rtl="0"/>
                      <a:r>
                        <a:rPr lang="en-US" b="1">
                          <a:solidFill>
                            <a:srgbClr val="1B1C1D"/>
                          </a:solidFill>
                          <a:effectLst/>
                          <a:latin typeface="Google Sans Text"/>
                        </a:rPr>
                        <a:t>Scale Down</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Load Stopped</a:t>
                      </a:r>
                      <a:endParaRPr lang="en-US">
                        <a:solidFill>
                          <a:srgbClr val="1B1C1D"/>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N/A</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Automatic Scale-In</a:t>
                      </a:r>
                      <a:r>
                        <a:rPr lang="en-US">
                          <a:solidFill>
                            <a:srgbClr val="1B1C1D"/>
                          </a:solidFill>
                          <a:effectLst/>
                          <a:latin typeface="Google Sans Text"/>
                        </a:rPr>
                        <a:t> (Alarm Low)</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b="1" dirty="0">
                          <a:solidFill>
                            <a:srgbClr val="1B1C1D"/>
                          </a:solidFill>
                          <a:effectLst/>
                          <a:latin typeface="Google Sans Text"/>
                        </a:rPr>
                        <a:t>2</a:t>
                      </a:r>
                      <a:r>
                        <a:rPr lang="en-US" dirty="0">
                          <a:solidFill>
                            <a:srgbClr val="1B1C1D"/>
                          </a:solidFill>
                          <a:effectLst/>
                          <a:latin typeface="Google Sans Text"/>
                        </a:rPr>
                        <a:t> (Final Capacity)</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91199280"/>
                  </a:ext>
                </a:extLst>
              </a:tr>
            </a:tbl>
          </a:graphicData>
        </a:graphic>
      </p:graphicFrame>
    </p:spTree>
    <p:extLst>
      <p:ext uri="{BB962C8B-B14F-4D97-AF65-F5344CB8AC3E}">
        <p14:creationId xmlns:p14="http://schemas.microsoft.com/office/powerpoint/2010/main" val="2845638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193D77-CB89-440A-A378-32B4DA676C65}"/>
              </a:ext>
            </a:extLst>
          </p:cNvPr>
          <p:cNvSpPr>
            <a:spLocks noGrp="1"/>
          </p:cNvSpPr>
          <p:nvPr>
            <p:ph type="sldNum" idx="97"/>
          </p:nvPr>
        </p:nvSpPr>
        <p:spPr/>
        <p:txBody>
          <a:bodyPr/>
          <a:lstStyle/>
          <a:p>
            <a:fld id="{4037B1B0-0345-4E15-985A-6BECCDBE474F}" type="slidenum">
              <a:rPr lang="en-US" smtClean="0"/>
              <a:pPr/>
              <a:t>14</a:t>
            </a:fld>
            <a:endParaRPr lang="en-US" dirty="0"/>
          </a:p>
        </p:txBody>
      </p:sp>
      <p:sp>
        <p:nvSpPr>
          <p:cNvPr id="4" name="Text Placeholder 3">
            <a:extLst>
              <a:ext uri="{FF2B5EF4-FFF2-40B4-BE49-F238E27FC236}">
                <a16:creationId xmlns:a16="http://schemas.microsoft.com/office/drawing/2014/main" id="{3AAAA2A2-BADB-4D0E-BB6E-E101074376B4}"/>
              </a:ext>
            </a:extLst>
          </p:cNvPr>
          <p:cNvSpPr>
            <a:spLocks noGrp="1"/>
          </p:cNvSpPr>
          <p:nvPr>
            <p:ph type="body" idx="2"/>
          </p:nvPr>
        </p:nvSpPr>
        <p:spPr/>
        <p:txBody>
          <a:bodyPr/>
          <a:lstStyle/>
          <a:p>
            <a:endParaRPr lang="en-PK" dirty="0"/>
          </a:p>
        </p:txBody>
      </p:sp>
      <p:pic>
        <p:nvPicPr>
          <p:cNvPr id="6" name="Picture 5">
            <a:extLst>
              <a:ext uri="{FF2B5EF4-FFF2-40B4-BE49-F238E27FC236}">
                <a16:creationId xmlns:a16="http://schemas.microsoft.com/office/drawing/2014/main" id="{AA4ADAC5-9475-42F7-980F-D8ACF003E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716" y="1033272"/>
            <a:ext cx="11971283" cy="5394960"/>
          </a:xfrm>
          <a:prstGeom prst="rect">
            <a:avLst/>
          </a:prstGeom>
        </p:spPr>
      </p:pic>
    </p:spTree>
    <p:extLst>
      <p:ext uri="{BB962C8B-B14F-4D97-AF65-F5344CB8AC3E}">
        <p14:creationId xmlns:p14="http://schemas.microsoft.com/office/powerpoint/2010/main" val="617992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045CF6-BAE9-447E-8B44-35980FAD8E8B}"/>
              </a:ext>
            </a:extLst>
          </p:cNvPr>
          <p:cNvSpPr>
            <a:spLocks noGrp="1"/>
          </p:cNvSpPr>
          <p:nvPr>
            <p:ph type="sldNum" idx="97"/>
          </p:nvPr>
        </p:nvSpPr>
        <p:spPr/>
        <p:txBody>
          <a:bodyPr/>
          <a:lstStyle/>
          <a:p>
            <a:fld id="{4037B1B0-0345-4E15-985A-6BECCDBE474F}" type="slidenum">
              <a:rPr lang="en-US" smtClean="0"/>
              <a:pPr/>
              <a:t>15</a:t>
            </a:fld>
            <a:endParaRPr lang="en-US" dirty="0"/>
          </a:p>
        </p:txBody>
      </p:sp>
      <p:sp>
        <p:nvSpPr>
          <p:cNvPr id="4" name="Text Placeholder 3">
            <a:extLst>
              <a:ext uri="{FF2B5EF4-FFF2-40B4-BE49-F238E27FC236}">
                <a16:creationId xmlns:a16="http://schemas.microsoft.com/office/drawing/2014/main" id="{F72EE688-74BC-42AC-9749-56FF4E308F25}"/>
              </a:ext>
            </a:extLst>
          </p:cNvPr>
          <p:cNvSpPr>
            <a:spLocks noGrp="1"/>
          </p:cNvSpPr>
          <p:nvPr>
            <p:ph type="body" idx="2"/>
          </p:nvPr>
        </p:nvSpPr>
        <p:spPr/>
        <p:txBody>
          <a:bodyPr/>
          <a:lstStyle/>
          <a:p>
            <a:endParaRPr lang="en-PK"/>
          </a:p>
        </p:txBody>
      </p:sp>
      <p:pic>
        <p:nvPicPr>
          <p:cNvPr id="6" name="Picture 5">
            <a:extLst>
              <a:ext uri="{FF2B5EF4-FFF2-40B4-BE49-F238E27FC236}">
                <a16:creationId xmlns:a16="http://schemas.microsoft.com/office/drawing/2014/main" id="{F1D194EC-B7FF-4563-8A43-A7C752797A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664" y="1033272"/>
            <a:ext cx="11526203" cy="4910328"/>
          </a:xfrm>
          <a:prstGeom prst="rect">
            <a:avLst/>
          </a:prstGeom>
        </p:spPr>
      </p:pic>
    </p:spTree>
    <p:extLst>
      <p:ext uri="{BB962C8B-B14F-4D97-AF65-F5344CB8AC3E}">
        <p14:creationId xmlns:p14="http://schemas.microsoft.com/office/powerpoint/2010/main" val="2931780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AFC6D8-2379-44B6-B6E6-43D20A5A4764}"/>
              </a:ext>
            </a:extLst>
          </p:cNvPr>
          <p:cNvSpPr>
            <a:spLocks noGrp="1"/>
          </p:cNvSpPr>
          <p:nvPr>
            <p:ph type="sldNum" idx="97"/>
          </p:nvPr>
        </p:nvSpPr>
        <p:spPr/>
        <p:txBody>
          <a:bodyPr/>
          <a:lstStyle/>
          <a:p>
            <a:fld id="{4037B1B0-0345-4E15-985A-6BECCDBE474F}" type="slidenum">
              <a:rPr lang="en-US" smtClean="0"/>
              <a:pPr/>
              <a:t>16</a:t>
            </a:fld>
            <a:endParaRPr lang="en-US" dirty="0"/>
          </a:p>
        </p:txBody>
      </p:sp>
      <p:sp>
        <p:nvSpPr>
          <p:cNvPr id="3" name="Title 2">
            <a:extLst>
              <a:ext uri="{FF2B5EF4-FFF2-40B4-BE49-F238E27FC236}">
                <a16:creationId xmlns:a16="http://schemas.microsoft.com/office/drawing/2014/main" id="{2CBF3C59-E37F-4178-8149-8A25364418E8}"/>
              </a:ext>
            </a:extLst>
          </p:cNvPr>
          <p:cNvSpPr>
            <a:spLocks noGrp="1"/>
          </p:cNvSpPr>
          <p:nvPr>
            <p:ph type="title" idx="1"/>
          </p:nvPr>
        </p:nvSpPr>
        <p:spPr/>
        <p:txBody>
          <a:bodyPr/>
          <a:lstStyle/>
          <a:p>
            <a:r>
              <a:rPr lang="en-US" dirty="0"/>
              <a:t>5. What You Learned From This Project</a:t>
            </a:r>
            <a:endParaRPr lang="en-PK" dirty="0"/>
          </a:p>
        </p:txBody>
      </p:sp>
      <p:sp>
        <p:nvSpPr>
          <p:cNvPr id="4" name="Content Placeholder 3">
            <a:extLst>
              <a:ext uri="{FF2B5EF4-FFF2-40B4-BE49-F238E27FC236}">
                <a16:creationId xmlns:a16="http://schemas.microsoft.com/office/drawing/2014/main" id="{A9CC04BE-80C2-4695-8B9C-5E03EA8AC78D}"/>
              </a:ext>
            </a:extLst>
          </p:cNvPr>
          <p:cNvSpPr>
            <a:spLocks noGrp="1"/>
          </p:cNvSpPr>
          <p:nvPr>
            <p:ph idx="2"/>
          </p:nvPr>
        </p:nvSpPr>
        <p:spPr/>
        <p:txBody>
          <a:bodyPr>
            <a:normAutofit fontScale="77500" lnSpcReduction="20000"/>
          </a:bodyPr>
          <a:lstStyle/>
          <a:p>
            <a:r>
              <a:rPr lang="en-US" dirty="0"/>
              <a:t>The project taught us the key concepts of modern cloud architecture by taking a basic web app and making it secure, reliable, and able to handle massive traffic spikes.</a:t>
            </a:r>
          </a:p>
          <a:p>
            <a:pPr>
              <a:buFont typeface="Arial" panose="020B0604020202020204" pitchFamily="34" charset="0"/>
              <a:buChar char="•"/>
            </a:pPr>
            <a:r>
              <a:rPr lang="en-US" dirty="0"/>
              <a:t>Decoupling for Strength: We moved the database (RDS) off the web server (EC2), making our application easier to update and preventing the whole system from failing if one part broke.</a:t>
            </a:r>
          </a:p>
          <a:p>
            <a:pPr>
              <a:buFont typeface="Arial" panose="020B0604020202020204" pitchFamily="34" charset="0"/>
              <a:buChar char="•"/>
            </a:pPr>
            <a:r>
              <a:rPr lang="en-US" dirty="0"/>
              <a:t>Always On (High Availability): We used an Application Load Balancer (ALB) and an Auto Scaling Group (ASG) across two different data centers (Availability Zones). This means if one server or even one data center goes down, our website stays online.</a:t>
            </a:r>
          </a:p>
          <a:p>
            <a:pPr>
              <a:buFont typeface="Arial" panose="020B0604020202020204" pitchFamily="34" charset="0"/>
              <a:buChar char="•"/>
            </a:pPr>
            <a:r>
              <a:rPr lang="en-US" dirty="0"/>
              <a:t>Automatic Scaling: We proved the system could handle load by automatically launching servers when stressed (though manual intervention was needed initially) and then automatically turning them off when traffic dropped (Cost Optimization).</a:t>
            </a:r>
          </a:p>
          <a:p>
            <a:pPr>
              <a:buFont typeface="Arial" panose="020B0604020202020204" pitchFamily="34" charset="0"/>
              <a:buChar char="•"/>
            </a:pPr>
            <a:r>
              <a:rPr lang="en-US" dirty="0"/>
              <a:t>Security Best Practices: We secured the database by placing it in private subnets (hidden from the public internet). We also eliminated the risk of exposed passwords by using AWS Secrets Manager and IAM Roles instead of hardcoding credentials.</a:t>
            </a:r>
          </a:p>
          <a:p>
            <a:pPr>
              <a:buFont typeface="Arial" panose="020B0604020202020204" pitchFamily="34" charset="0"/>
              <a:buChar char="•"/>
            </a:pPr>
            <a:r>
              <a:rPr lang="en-US" dirty="0"/>
              <a:t>Planning and Budgeting: We learned to use the AWS Pricing Calculator to determine the cost of our design before building it, a crucial skill for any cloud engineer.</a:t>
            </a:r>
          </a:p>
          <a:p>
            <a:endParaRPr lang="en-PK" dirty="0"/>
          </a:p>
        </p:txBody>
      </p:sp>
    </p:spTree>
    <p:extLst>
      <p:ext uri="{BB962C8B-B14F-4D97-AF65-F5344CB8AC3E}">
        <p14:creationId xmlns:p14="http://schemas.microsoft.com/office/powerpoint/2010/main" val="40203102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 Official Evolved ColorSet 3 (2022-Q4)</Template>
  <TotalTime>10529</TotalTime>
  <Words>910</Words>
  <Application>Microsoft Office PowerPoint</Application>
  <PresentationFormat>Widescreen</PresentationFormat>
  <Paragraphs>92</Paragraphs>
  <Slides>16</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Amazon Ember Display</vt:lpstr>
      <vt:lpstr>Amazon Ember Display</vt:lpstr>
      <vt:lpstr>Amazon Ember Display Heavy</vt:lpstr>
      <vt:lpstr>Arial</vt:lpstr>
      <vt:lpstr>Calibri</vt:lpstr>
      <vt:lpstr>Google Sans Text</vt:lpstr>
      <vt:lpstr>Lucida Console</vt:lpstr>
      <vt:lpstr>OneBrand EVO (2022-Q4) ColorSet 3</vt:lpstr>
      <vt:lpstr>Academy Lab Projects – Showcase</vt:lpstr>
      <vt:lpstr>1. Architecture Diagram</vt:lpstr>
      <vt:lpstr>2. Pricing Summary</vt:lpstr>
      <vt:lpstr>2. Pricing Summary</vt:lpstr>
      <vt:lpstr>PowerPoint Presentation</vt:lpstr>
      <vt:lpstr>PowerPoint Presentation</vt:lpstr>
      <vt:lpstr>3. Capstone ELB Link + Screenshot of Your Website</vt:lpstr>
      <vt:lpstr>Screenshot of Your Website</vt:lpstr>
      <vt:lpstr>Architecture diagram of the solution: Example</vt:lpstr>
      <vt:lpstr>4. Load Testing Results</vt:lpstr>
      <vt:lpstr>PowerPoint Presentation</vt:lpstr>
      <vt:lpstr>Thank you</vt:lpstr>
      <vt:lpstr>4. Load Testing Results</vt:lpstr>
      <vt:lpstr>PowerPoint Presentation</vt:lpstr>
      <vt:lpstr>PowerPoint Presentation</vt:lpstr>
      <vt:lpstr>5. What You Learned From This Project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Set 4</dc:title>
  <dc:creator>Stading, Katrina</dc:creator>
  <cp:lastModifiedBy>Zunaira Abdul Aziz</cp:lastModifiedBy>
  <cp:revision>238</cp:revision>
  <dcterms:created xsi:type="dcterms:W3CDTF">2022-11-09T17:00:30Z</dcterms:created>
  <dcterms:modified xsi:type="dcterms:W3CDTF">2025-11-19T11:59:31Z</dcterms:modified>
</cp:coreProperties>
</file>